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5.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5" r:id="rId7"/>
    <p:sldId id="266" r:id="rId8"/>
    <p:sldId id="263" r:id="rId9"/>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14" y="1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800" b="0" i="0">
                <a:solidFill>
                  <a:srgbClr val="3333CC"/>
                </a:solidFill>
                <a:latin typeface="Arial MT"/>
                <a:cs typeface="Arial MT"/>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1" i="0">
                <a:solidFill>
                  <a:srgbClr val="EEEEEE"/>
                </a:solidFill>
                <a:latin typeface="Malgun Gothic"/>
                <a:cs typeface="Malgun Gothic"/>
              </a:defRPr>
            </a:lvl1pPr>
          </a:lstStyle>
          <a:p>
            <a:pPr marL="23495">
              <a:lnSpc>
                <a:spcPct val="100000"/>
              </a:lnSpc>
              <a:spcBef>
                <a:spcPts val="175"/>
              </a:spcBef>
            </a:pPr>
            <a:r>
              <a:rPr spc="-10" dirty="0"/>
              <a:t>Project</a:t>
            </a:r>
          </a:p>
        </p:txBody>
      </p:sp>
      <p:sp>
        <p:nvSpPr>
          <p:cNvPr id="5" name="Holder 5"/>
          <p:cNvSpPr>
            <a:spLocks noGrp="1"/>
          </p:cNvSpPr>
          <p:nvPr>
            <p:ph type="dt" sz="half" idx="6"/>
          </p:nvPr>
        </p:nvSpPr>
        <p:spPr/>
        <p:txBody>
          <a:bodyPr lIns="0" tIns="0" rIns="0" bIns="0"/>
          <a:lstStyle>
            <a:lvl1pPr>
              <a:defRPr sz="800" b="1" i="0">
                <a:solidFill>
                  <a:srgbClr val="EEEEEE"/>
                </a:solidFill>
                <a:latin typeface="Malgun Gothic"/>
                <a:cs typeface="Malgun Gothic"/>
              </a:defRPr>
            </a:lvl1pPr>
          </a:lstStyle>
          <a:p>
            <a:pPr marL="12700">
              <a:lnSpc>
                <a:spcPct val="100000"/>
              </a:lnSpc>
              <a:spcBef>
                <a:spcPts val="175"/>
              </a:spcBef>
            </a:pPr>
            <a:r>
              <a:rPr spc="-10" dirty="0"/>
              <a:t>28/03/2025</a:t>
            </a:r>
          </a:p>
        </p:txBody>
      </p:sp>
      <p:sp>
        <p:nvSpPr>
          <p:cNvPr id="6" name="Holder 6"/>
          <p:cNvSpPr>
            <a:spLocks noGrp="1"/>
          </p:cNvSpPr>
          <p:nvPr>
            <p:ph type="sldNum" sz="quarter" idx="7"/>
          </p:nvPr>
        </p:nvSpPr>
        <p:spPr/>
        <p:txBody>
          <a:bodyPr lIns="0" tIns="0" rIns="0" bIns="0"/>
          <a:lstStyle>
            <a:lvl1pPr>
              <a:defRPr sz="1100" b="1" i="0">
                <a:solidFill>
                  <a:srgbClr val="EEEEEE"/>
                </a:solidFill>
                <a:latin typeface="Arial"/>
                <a:cs typeface="Arial"/>
              </a:defRPr>
            </a:lvl1pPr>
          </a:lstStyle>
          <a:p>
            <a:pPr marL="38100">
              <a:lnSpc>
                <a:spcPct val="100000"/>
              </a:lnSpc>
            </a:pPr>
            <a:fld id="{81D60167-4931-47E6-BA6A-407CBD079E47}" type="slidenum">
              <a:rPr spc="-50" dirty="0"/>
              <a:t>‹N°›</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2788898"/>
            <a:ext cx="9141714" cy="1373973"/>
          </a:xfrm>
          <a:prstGeom prst="rect">
            <a:avLst/>
          </a:prstGeom>
        </p:spPr>
      </p:pic>
      <p:pic>
        <p:nvPicPr>
          <p:cNvPr id="17" name="bg object 17"/>
          <p:cNvPicPr/>
          <p:nvPr/>
        </p:nvPicPr>
        <p:blipFill>
          <a:blip r:embed="rId3" cstate="print"/>
          <a:stretch>
            <a:fillRect/>
          </a:stretch>
        </p:blipFill>
        <p:spPr>
          <a:xfrm>
            <a:off x="0" y="1498091"/>
            <a:ext cx="9144000" cy="1427987"/>
          </a:xfrm>
          <a:prstGeom prst="rect">
            <a:avLst/>
          </a:prstGeom>
        </p:spPr>
      </p:pic>
      <p:pic>
        <p:nvPicPr>
          <p:cNvPr id="18" name="bg object 18"/>
          <p:cNvPicPr/>
          <p:nvPr/>
        </p:nvPicPr>
        <p:blipFill>
          <a:blip r:embed="rId4" cstate="print"/>
          <a:stretch>
            <a:fillRect/>
          </a:stretch>
        </p:blipFill>
        <p:spPr>
          <a:xfrm>
            <a:off x="0" y="1538350"/>
            <a:ext cx="9143999" cy="1314450"/>
          </a:xfrm>
          <a:prstGeom prst="rect">
            <a:avLst/>
          </a:prstGeom>
        </p:spPr>
      </p:pic>
      <p:sp>
        <p:nvSpPr>
          <p:cNvPr id="19" name="bg object 19"/>
          <p:cNvSpPr/>
          <p:nvPr/>
        </p:nvSpPr>
        <p:spPr>
          <a:xfrm>
            <a:off x="0" y="4890299"/>
            <a:ext cx="9144000" cy="34925"/>
          </a:xfrm>
          <a:custGeom>
            <a:avLst/>
            <a:gdLst/>
            <a:ahLst/>
            <a:cxnLst/>
            <a:rect l="l" t="t" r="r" b="b"/>
            <a:pathLst>
              <a:path w="9144000" h="34925">
                <a:moveTo>
                  <a:pt x="0" y="34326"/>
                </a:moveTo>
                <a:lnTo>
                  <a:pt x="9144000" y="34326"/>
                </a:lnTo>
                <a:lnTo>
                  <a:pt x="9144000" y="0"/>
                </a:lnTo>
                <a:lnTo>
                  <a:pt x="0" y="0"/>
                </a:lnTo>
                <a:lnTo>
                  <a:pt x="0" y="34326"/>
                </a:lnTo>
                <a:close/>
              </a:path>
            </a:pathLst>
          </a:custGeom>
          <a:solidFill>
            <a:srgbClr val="1C4586"/>
          </a:solidFill>
        </p:spPr>
        <p:txBody>
          <a:bodyPr wrap="square" lIns="0" tIns="0" rIns="0" bIns="0" rtlCol="0"/>
          <a:lstStyle/>
          <a:p>
            <a:endParaRPr/>
          </a:p>
        </p:txBody>
      </p:sp>
      <p:sp>
        <p:nvSpPr>
          <p:cNvPr id="20" name="bg object 20"/>
          <p:cNvSpPr/>
          <p:nvPr/>
        </p:nvSpPr>
        <p:spPr>
          <a:xfrm>
            <a:off x="0" y="4890299"/>
            <a:ext cx="9144000" cy="0"/>
          </a:xfrm>
          <a:custGeom>
            <a:avLst/>
            <a:gdLst/>
            <a:ahLst/>
            <a:cxnLst/>
            <a:rect l="l" t="t" r="r" b="b"/>
            <a:pathLst>
              <a:path w="9144000">
                <a:moveTo>
                  <a:pt x="9144000" y="0"/>
                </a:moveTo>
                <a:lnTo>
                  <a:pt x="0" y="0"/>
                </a:lnTo>
              </a:path>
            </a:pathLst>
          </a:custGeom>
          <a:ln w="9525">
            <a:solidFill>
              <a:srgbClr val="FFFFFF"/>
            </a:solidFill>
          </a:ln>
        </p:spPr>
        <p:txBody>
          <a:bodyPr wrap="square" lIns="0" tIns="0" rIns="0" bIns="0" rtlCol="0"/>
          <a:lstStyle/>
          <a:p>
            <a:endParaRPr/>
          </a:p>
        </p:txBody>
      </p:sp>
      <p:sp>
        <p:nvSpPr>
          <p:cNvPr id="21" name="bg object 21"/>
          <p:cNvSpPr/>
          <p:nvPr/>
        </p:nvSpPr>
        <p:spPr>
          <a:xfrm>
            <a:off x="0" y="4924625"/>
            <a:ext cx="9144000" cy="219075"/>
          </a:xfrm>
          <a:custGeom>
            <a:avLst/>
            <a:gdLst/>
            <a:ahLst/>
            <a:cxnLst/>
            <a:rect l="l" t="t" r="r" b="b"/>
            <a:pathLst>
              <a:path w="9144000" h="219075">
                <a:moveTo>
                  <a:pt x="0" y="218998"/>
                </a:moveTo>
                <a:lnTo>
                  <a:pt x="9144000" y="218998"/>
                </a:lnTo>
                <a:lnTo>
                  <a:pt x="9144000" y="0"/>
                </a:lnTo>
                <a:lnTo>
                  <a:pt x="0" y="0"/>
                </a:lnTo>
                <a:lnTo>
                  <a:pt x="0" y="218998"/>
                </a:lnTo>
                <a:close/>
              </a:path>
            </a:pathLst>
          </a:custGeom>
          <a:solidFill>
            <a:srgbClr val="3C85C5"/>
          </a:solidFill>
        </p:spPr>
        <p:txBody>
          <a:bodyPr wrap="square" lIns="0" tIns="0" rIns="0" bIns="0" rtlCol="0"/>
          <a:lstStyle/>
          <a:p>
            <a:endParaRPr/>
          </a:p>
        </p:txBody>
      </p:sp>
      <p:sp>
        <p:nvSpPr>
          <p:cNvPr id="22" name="bg object 22"/>
          <p:cNvSpPr/>
          <p:nvPr/>
        </p:nvSpPr>
        <p:spPr>
          <a:xfrm>
            <a:off x="245427" y="3721506"/>
            <a:ext cx="1863725" cy="40005"/>
          </a:xfrm>
          <a:custGeom>
            <a:avLst/>
            <a:gdLst/>
            <a:ahLst/>
            <a:cxnLst/>
            <a:rect l="l" t="t" r="r" b="b"/>
            <a:pathLst>
              <a:path w="1863725" h="40004">
                <a:moveTo>
                  <a:pt x="0" y="39509"/>
                </a:moveTo>
                <a:lnTo>
                  <a:pt x="1863598" y="39509"/>
                </a:lnTo>
                <a:lnTo>
                  <a:pt x="1863598" y="0"/>
                </a:lnTo>
                <a:lnTo>
                  <a:pt x="0" y="0"/>
                </a:lnTo>
                <a:lnTo>
                  <a:pt x="0" y="39509"/>
                </a:lnTo>
                <a:close/>
              </a:path>
            </a:pathLst>
          </a:custGeom>
          <a:solidFill>
            <a:srgbClr val="1C4586"/>
          </a:solidFill>
        </p:spPr>
        <p:txBody>
          <a:bodyPr wrap="square" lIns="0" tIns="0" rIns="0" bIns="0" rtlCol="0"/>
          <a:lstStyle/>
          <a:p>
            <a:endParaRPr/>
          </a:p>
        </p:txBody>
      </p:sp>
      <p:sp>
        <p:nvSpPr>
          <p:cNvPr id="23" name="bg object 23"/>
          <p:cNvSpPr/>
          <p:nvPr/>
        </p:nvSpPr>
        <p:spPr>
          <a:xfrm>
            <a:off x="99716" y="3761016"/>
            <a:ext cx="2153285" cy="328295"/>
          </a:xfrm>
          <a:custGeom>
            <a:avLst/>
            <a:gdLst/>
            <a:ahLst/>
            <a:cxnLst/>
            <a:rect l="l" t="t" r="r" b="b"/>
            <a:pathLst>
              <a:path w="2153285" h="328295">
                <a:moveTo>
                  <a:pt x="2152904" y="0"/>
                </a:moveTo>
                <a:lnTo>
                  <a:pt x="0" y="0"/>
                </a:lnTo>
                <a:lnTo>
                  <a:pt x="0" y="328079"/>
                </a:lnTo>
                <a:lnTo>
                  <a:pt x="2152904" y="328079"/>
                </a:lnTo>
                <a:lnTo>
                  <a:pt x="2152904" y="0"/>
                </a:lnTo>
                <a:close/>
              </a:path>
            </a:pathLst>
          </a:custGeom>
          <a:solidFill>
            <a:srgbClr val="3C85C5"/>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800" b="0" i="0">
                <a:solidFill>
                  <a:srgbClr val="3333CC"/>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1" i="0">
                <a:solidFill>
                  <a:srgbClr val="EEEEEE"/>
                </a:solidFill>
                <a:latin typeface="Malgun Gothic"/>
                <a:cs typeface="Malgun Gothic"/>
              </a:defRPr>
            </a:lvl1pPr>
          </a:lstStyle>
          <a:p>
            <a:pPr marL="23495">
              <a:lnSpc>
                <a:spcPct val="100000"/>
              </a:lnSpc>
              <a:spcBef>
                <a:spcPts val="175"/>
              </a:spcBef>
            </a:pPr>
            <a:r>
              <a:rPr spc="-10" dirty="0"/>
              <a:t>Project</a:t>
            </a:r>
          </a:p>
        </p:txBody>
      </p:sp>
      <p:sp>
        <p:nvSpPr>
          <p:cNvPr id="5" name="Holder 5"/>
          <p:cNvSpPr>
            <a:spLocks noGrp="1"/>
          </p:cNvSpPr>
          <p:nvPr>
            <p:ph type="dt" sz="half" idx="6"/>
          </p:nvPr>
        </p:nvSpPr>
        <p:spPr/>
        <p:txBody>
          <a:bodyPr lIns="0" tIns="0" rIns="0" bIns="0"/>
          <a:lstStyle>
            <a:lvl1pPr>
              <a:defRPr sz="800" b="1" i="0">
                <a:solidFill>
                  <a:srgbClr val="EEEEEE"/>
                </a:solidFill>
                <a:latin typeface="Malgun Gothic"/>
                <a:cs typeface="Malgun Gothic"/>
              </a:defRPr>
            </a:lvl1pPr>
          </a:lstStyle>
          <a:p>
            <a:pPr marL="12700">
              <a:lnSpc>
                <a:spcPct val="100000"/>
              </a:lnSpc>
              <a:spcBef>
                <a:spcPts val="175"/>
              </a:spcBef>
            </a:pPr>
            <a:r>
              <a:rPr spc="-10" dirty="0"/>
              <a:t>28/03/2025</a:t>
            </a:r>
          </a:p>
        </p:txBody>
      </p:sp>
      <p:sp>
        <p:nvSpPr>
          <p:cNvPr id="6" name="Holder 6"/>
          <p:cNvSpPr>
            <a:spLocks noGrp="1"/>
          </p:cNvSpPr>
          <p:nvPr>
            <p:ph type="sldNum" sz="quarter" idx="7"/>
          </p:nvPr>
        </p:nvSpPr>
        <p:spPr/>
        <p:txBody>
          <a:bodyPr lIns="0" tIns="0" rIns="0" bIns="0"/>
          <a:lstStyle>
            <a:lvl1pPr>
              <a:defRPr sz="1100" b="1" i="0">
                <a:solidFill>
                  <a:srgbClr val="EEEEEE"/>
                </a:solidFill>
                <a:latin typeface="Arial"/>
                <a:cs typeface="Arial"/>
              </a:defRPr>
            </a:lvl1pPr>
          </a:lstStyle>
          <a:p>
            <a:pPr marL="38100">
              <a:lnSpc>
                <a:spcPct val="100000"/>
              </a:lnSpc>
            </a:pPr>
            <a:fld id="{81D60167-4931-47E6-BA6A-407CBD079E47}" type="slidenum">
              <a:rPr spc="-50" dirty="0"/>
              <a:t>‹N°›</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333CC"/>
                </a:solidFill>
                <a:latin typeface="Arial MT"/>
                <a:cs typeface="Arial MT"/>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1" i="0">
                <a:solidFill>
                  <a:srgbClr val="EEEEEE"/>
                </a:solidFill>
                <a:latin typeface="Malgun Gothic"/>
                <a:cs typeface="Malgun Gothic"/>
              </a:defRPr>
            </a:lvl1pPr>
          </a:lstStyle>
          <a:p>
            <a:pPr marL="23495">
              <a:lnSpc>
                <a:spcPct val="100000"/>
              </a:lnSpc>
              <a:spcBef>
                <a:spcPts val="175"/>
              </a:spcBef>
            </a:pPr>
            <a:r>
              <a:rPr spc="-10" dirty="0"/>
              <a:t>Project</a:t>
            </a:r>
          </a:p>
        </p:txBody>
      </p:sp>
      <p:sp>
        <p:nvSpPr>
          <p:cNvPr id="6" name="Holder 6"/>
          <p:cNvSpPr>
            <a:spLocks noGrp="1"/>
          </p:cNvSpPr>
          <p:nvPr>
            <p:ph type="dt" sz="half" idx="6"/>
          </p:nvPr>
        </p:nvSpPr>
        <p:spPr/>
        <p:txBody>
          <a:bodyPr lIns="0" tIns="0" rIns="0" bIns="0"/>
          <a:lstStyle>
            <a:lvl1pPr>
              <a:defRPr sz="800" b="1" i="0">
                <a:solidFill>
                  <a:srgbClr val="EEEEEE"/>
                </a:solidFill>
                <a:latin typeface="Malgun Gothic"/>
                <a:cs typeface="Malgun Gothic"/>
              </a:defRPr>
            </a:lvl1pPr>
          </a:lstStyle>
          <a:p>
            <a:pPr marL="12700">
              <a:lnSpc>
                <a:spcPct val="100000"/>
              </a:lnSpc>
              <a:spcBef>
                <a:spcPts val="175"/>
              </a:spcBef>
            </a:pPr>
            <a:r>
              <a:rPr spc="-10" dirty="0"/>
              <a:t>28/03/2025</a:t>
            </a:r>
          </a:p>
        </p:txBody>
      </p:sp>
      <p:sp>
        <p:nvSpPr>
          <p:cNvPr id="7" name="Holder 7"/>
          <p:cNvSpPr>
            <a:spLocks noGrp="1"/>
          </p:cNvSpPr>
          <p:nvPr>
            <p:ph type="sldNum" sz="quarter" idx="7"/>
          </p:nvPr>
        </p:nvSpPr>
        <p:spPr/>
        <p:txBody>
          <a:bodyPr lIns="0" tIns="0" rIns="0" bIns="0"/>
          <a:lstStyle>
            <a:lvl1pPr>
              <a:defRPr sz="1100" b="1" i="0">
                <a:solidFill>
                  <a:srgbClr val="EEEEEE"/>
                </a:solidFill>
                <a:latin typeface="Arial"/>
                <a:cs typeface="Arial"/>
              </a:defRPr>
            </a:lvl1pPr>
          </a:lstStyle>
          <a:p>
            <a:pPr marL="38100">
              <a:lnSpc>
                <a:spcPct val="100000"/>
              </a:lnSpc>
            </a:pPr>
            <a:fld id="{81D60167-4931-47E6-BA6A-407CBD079E47}" type="slidenum">
              <a:rPr spc="-50" dirty="0"/>
              <a:t>‹N°›</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414845"/>
          </a:xfrm>
          <a:prstGeom prst="rect">
            <a:avLst/>
          </a:prstGeom>
        </p:spPr>
      </p:pic>
      <p:sp>
        <p:nvSpPr>
          <p:cNvPr id="17" name="bg object 17"/>
          <p:cNvSpPr/>
          <p:nvPr/>
        </p:nvSpPr>
        <p:spPr>
          <a:xfrm>
            <a:off x="0" y="-1587"/>
            <a:ext cx="6878955" cy="351790"/>
          </a:xfrm>
          <a:custGeom>
            <a:avLst/>
            <a:gdLst/>
            <a:ahLst/>
            <a:cxnLst/>
            <a:rect l="l" t="t" r="r" b="b"/>
            <a:pathLst>
              <a:path w="6878955" h="351790">
                <a:moveTo>
                  <a:pt x="0" y="351599"/>
                </a:moveTo>
                <a:lnTo>
                  <a:pt x="6878828" y="351599"/>
                </a:lnTo>
                <a:lnTo>
                  <a:pt x="6878828" y="0"/>
                </a:lnTo>
                <a:lnTo>
                  <a:pt x="0" y="0"/>
                </a:lnTo>
                <a:lnTo>
                  <a:pt x="0" y="351599"/>
                </a:lnTo>
                <a:close/>
              </a:path>
            </a:pathLst>
          </a:custGeom>
          <a:solidFill>
            <a:srgbClr val="EEEEEE"/>
          </a:solidFill>
        </p:spPr>
        <p:txBody>
          <a:bodyPr wrap="square" lIns="0" tIns="0" rIns="0" bIns="0" rtlCol="0"/>
          <a:lstStyle/>
          <a:p>
            <a:endParaRPr/>
          </a:p>
        </p:txBody>
      </p:sp>
      <p:sp>
        <p:nvSpPr>
          <p:cNvPr id="18" name="bg object 18"/>
          <p:cNvSpPr/>
          <p:nvPr/>
        </p:nvSpPr>
        <p:spPr>
          <a:xfrm>
            <a:off x="0" y="4890299"/>
            <a:ext cx="9144000" cy="34290"/>
          </a:xfrm>
          <a:custGeom>
            <a:avLst/>
            <a:gdLst/>
            <a:ahLst/>
            <a:cxnLst/>
            <a:rect l="l" t="t" r="r" b="b"/>
            <a:pathLst>
              <a:path w="9144000" h="34289">
                <a:moveTo>
                  <a:pt x="0" y="34201"/>
                </a:moveTo>
                <a:lnTo>
                  <a:pt x="9144000" y="34201"/>
                </a:lnTo>
                <a:lnTo>
                  <a:pt x="9144000" y="0"/>
                </a:lnTo>
                <a:lnTo>
                  <a:pt x="0" y="0"/>
                </a:lnTo>
                <a:lnTo>
                  <a:pt x="0" y="34201"/>
                </a:lnTo>
                <a:close/>
              </a:path>
            </a:pathLst>
          </a:custGeom>
          <a:solidFill>
            <a:srgbClr val="1C4586"/>
          </a:solidFill>
        </p:spPr>
        <p:txBody>
          <a:bodyPr wrap="square" lIns="0" tIns="0" rIns="0" bIns="0" rtlCol="0"/>
          <a:lstStyle/>
          <a:p>
            <a:endParaRPr/>
          </a:p>
        </p:txBody>
      </p:sp>
      <p:sp>
        <p:nvSpPr>
          <p:cNvPr id="19" name="bg object 19"/>
          <p:cNvSpPr/>
          <p:nvPr/>
        </p:nvSpPr>
        <p:spPr>
          <a:xfrm>
            <a:off x="0" y="5145880"/>
            <a:ext cx="9144000" cy="0"/>
          </a:xfrm>
          <a:custGeom>
            <a:avLst/>
            <a:gdLst/>
            <a:ahLst/>
            <a:cxnLst/>
            <a:rect l="l" t="t" r="r" b="b"/>
            <a:pathLst>
              <a:path w="9144000">
                <a:moveTo>
                  <a:pt x="0" y="0"/>
                </a:moveTo>
                <a:lnTo>
                  <a:pt x="9144000" y="0"/>
                </a:lnTo>
              </a:path>
            </a:pathLst>
          </a:custGeom>
          <a:ln w="4762">
            <a:solidFill>
              <a:srgbClr val="FFFFFF"/>
            </a:solidFill>
          </a:ln>
        </p:spPr>
        <p:txBody>
          <a:bodyPr wrap="square" lIns="0" tIns="0" rIns="0" bIns="0" rtlCol="0"/>
          <a:lstStyle/>
          <a:p>
            <a:endParaRPr/>
          </a:p>
        </p:txBody>
      </p:sp>
      <p:sp>
        <p:nvSpPr>
          <p:cNvPr id="20" name="bg object 20"/>
          <p:cNvSpPr/>
          <p:nvPr/>
        </p:nvSpPr>
        <p:spPr>
          <a:xfrm>
            <a:off x="0" y="4890299"/>
            <a:ext cx="9144000" cy="0"/>
          </a:xfrm>
          <a:custGeom>
            <a:avLst/>
            <a:gdLst/>
            <a:ahLst/>
            <a:cxnLst/>
            <a:rect l="l" t="t" r="r" b="b"/>
            <a:pathLst>
              <a:path w="9144000">
                <a:moveTo>
                  <a:pt x="9144000" y="0"/>
                </a:moveTo>
                <a:lnTo>
                  <a:pt x="0" y="0"/>
                </a:lnTo>
              </a:path>
            </a:pathLst>
          </a:custGeom>
          <a:ln w="9525">
            <a:solidFill>
              <a:srgbClr val="FFFFFF"/>
            </a:solidFill>
          </a:ln>
        </p:spPr>
        <p:txBody>
          <a:bodyPr wrap="square" lIns="0" tIns="0" rIns="0" bIns="0" rtlCol="0"/>
          <a:lstStyle/>
          <a:p>
            <a:endParaRPr/>
          </a:p>
        </p:txBody>
      </p:sp>
      <p:sp>
        <p:nvSpPr>
          <p:cNvPr id="21" name="bg object 21"/>
          <p:cNvSpPr/>
          <p:nvPr/>
        </p:nvSpPr>
        <p:spPr>
          <a:xfrm>
            <a:off x="6878828" y="63"/>
            <a:ext cx="2265680" cy="351790"/>
          </a:xfrm>
          <a:custGeom>
            <a:avLst/>
            <a:gdLst/>
            <a:ahLst/>
            <a:cxnLst/>
            <a:rect l="l" t="t" r="r" b="b"/>
            <a:pathLst>
              <a:path w="2265679" h="351790">
                <a:moveTo>
                  <a:pt x="2265172" y="0"/>
                </a:moveTo>
                <a:lnTo>
                  <a:pt x="0" y="0"/>
                </a:lnTo>
                <a:lnTo>
                  <a:pt x="0" y="351599"/>
                </a:lnTo>
                <a:lnTo>
                  <a:pt x="2265172" y="351599"/>
                </a:lnTo>
                <a:lnTo>
                  <a:pt x="2265172" y="0"/>
                </a:lnTo>
                <a:close/>
              </a:path>
            </a:pathLst>
          </a:custGeom>
          <a:solidFill>
            <a:srgbClr val="3C85C5"/>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800" b="0" i="0">
                <a:solidFill>
                  <a:srgbClr val="3333CC"/>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800" b="1" i="0">
                <a:solidFill>
                  <a:srgbClr val="EEEEEE"/>
                </a:solidFill>
                <a:latin typeface="Malgun Gothic"/>
                <a:cs typeface="Malgun Gothic"/>
              </a:defRPr>
            </a:lvl1pPr>
          </a:lstStyle>
          <a:p>
            <a:pPr marL="23495">
              <a:lnSpc>
                <a:spcPct val="100000"/>
              </a:lnSpc>
              <a:spcBef>
                <a:spcPts val="175"/>
              </a:spcBef>
            </a:pPr>
            <a:r>
              <a:rPr spc="-10" dirty="0"/>
              <a:t>Project</a:t>
            </a:r>
          </a:p>
        </p:txBody>
      </p:sp>
      <p:sp>
        <p:nvSpPr>
          <p:cNvPr id="4" name="Holder 4"/>
          <p:cNvSpPr>
            <a:spLocks noGrp="1"/>
          </p:cNvSpPr>
          <p:nvPr>
            <p:ph type="dt" sz="half" idx="6"/>
          </p:nvPr>
        </p:nvSpPr>
        <p:spPr/>
        <p:txBody>
          <a:bodyPr lIns="0" tIns="0" rIns="0" bIns="0"/>
          <a:lstStyle>
            <a:lvl1pPr>
              <a:defRPr sz="800" b="1" i="0">
                <a:solidFill>
                  <a:srgbClr val="EEEEEE"/>
                </a:solidFill>
                <a:latin typeface="Malgun Gothic"/>
                <a:cs typeface="Malgun Gothic"/>
              </a:defRPr>
            </a:lvl1pPr>
          </a:lstStyle>
          <a:p>
            <a:pPr marL="12700">
              <a:lnSpc>
                <a:spcPct val="100000"/>
              </a:lnSpc>
              <a:spcBef>
                <a:spcPts val="175"/>
              </a:spcBef>
            </a:pPr>
            <a:r>
              <a:rPr spc="-10" dirty="0"/>
              <a:t>28/03/2025</a:t>
            </a:r>
          </a:p>
        </p:txBody>
      </p:sp>
      <p:sp>
        <p:nvSpPr>
          <p:cNvPr id="5" name="Holder 5"/>
          <p:cNvSpPr>
            <a:spLocks noGrp="1"/>
          </p:cNvSpPr>
          <p:nvPr>
            <p:ph type="sldNum" sz="quarter" idx="7"/>
          </p:nvPr>
        </p:nvSpPr>
        <p:spPr/>
        <p:txBody>
          <a:bodyPr lIns="0" tIns="0" rIns="0" bIns="0"/>
          <a:lstStyle>
            <a:lvl1pPr>
              <a:defRPr sz="1100" b="1" i="0">
                <a:solidFill>
                  <a:srgbClr val="EEEEEE"/>
                </a:solidFill>
                <a:latin typeface="Arial"/>
                <a:cs typeface="Arial"/>
              </a:defRPr>
            </a:lvl1pPr>
          </a:lstStyle>
          <a:p>
            <a:pPr marL="38100">
              <a:lnSpc>
                <a:spcPct val="100000"/>
              </a:lnSpc>
            </a:pPr>
            <a:fld id="{81D60167-4931-47E6-BA6A-407CBD079E47}" type="slidenum">
              <a:rPr spc="-50" dirty="0"/>
              <a:t>‹N°›</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1" i="0">
                <a:solidFill>
                  <a:srgbClr val="EEEEEE"/>
                </a:solidFill>
                <a:latin typeface="Malgun Gothic"/>
                <a:cs typeface="Malgun Gothic"/>
              </a:defRPr>
            </a:lvl1pPr>
          </a:lstStyle>
          <a:p>
            <a:pPr marL="23495">
              <a:lnSpc>
                <a:spcPct val="100000"/>
              </a:lnSpc>
              <a:spcBef>
                <a:spcPts val="175"/>
              </a:spcBef>
            </a:pPr>
            <a:r>
              <a:rPr spc="-10" dirty="0"/>
              <a:t>Project</a:t>
            </a:r>
          </a:p>
        </p:txBody>
      </p:sp>
      <p:sp>
        <p:nvSpPr>
          <p:cNvPr id="3" name="Holder 3"/>
          <p:cNvSpPr>
            <a:spLocks noGrp="1"/>
          </p:cNvSpPr>
          <p:nvPr>
            <p:ph type="dt" sz="half" idx="6"/>
          </p:nvPr>
        </p:nvSpPr>
        <p:spPr/>
        <p:txBody>
          <a:bodyPr lIns="0" tIns="0" rIns="0" bIns="0"/>
          <a:lstStyle>
            <a:lvl1pPr>
              <a:defRPr sz="800" b="1" i="0">
                <a:solidFill>
                  <a:srgbClr val="EEEEEE"/>
                </a:solidFill>
                <a:latin typeface="Malgun Gothic"/>
                <a:cs typeface="Malgun Gothic"/>
              </a:defRPr>
            </a:lvl1pPr>
          </a:lstStyle>
          <a:p>
            <a:pPr marL="12700">
              <a:lnSpc>
                <a:spcPct val="100000"/>
              </a:lnSpc>
              <a:spcBef>
                <a:spcPts val="175"/>
              </a:spcBef>
            </a:pPr>
            <a:r>
              <a:rPr spc="-10" dirty="0"/>
              <a:t>28/03/2025</a:t>
            </a:r>
          </a:p>
        </p:txBody>
      </p:sp>
      <p:sp>
        <p:nvSpPr>
          <p:cNvPr id="4" name="Holder 4"/>
          <p:cNvSpPr>
            <a:spLocks noGrp="1"/>
          </p:cNvSpPr>
          <p:nvPr>
            <p:ph type="sldNum" sz="quarter" idx="7"/>
          </p:nvPr>
        </p:nvSpPr>
        <p:spPr/>
        <p:txBody>
          <a:bodyPr lIns="0" tIns="0" rIns="0" bIns="0"/>
          <a:lstStyle>
            <a:lvl1pPr>
              <a:defRPr sz="1100" b="1" i="0">
                <a:solidFill>
                  <a:srgbClr val="EEEEEE"/>
                </a:solidFill>
                <a:latin typeface="Arial"/>
                <a:cs typeface="Arial"/>
              </a:defRPr>
            </a:lvl1pPr>
          </a:lstStyle>
          <a:p>
            <a:pPr marL="38100">
              <a:lnSpc>
                <a:spcPct val="100000"/>
              </a:lnSpc>
            </a:pPr>
            <a:fld id="{81D60167-4931-47E6-BA6A-407CBD079E47}" type="slidenum">
              <a:rPr spc="-50" dirty="0"/>
              <a:t>‹N°›</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890299"/>
            <a:ext cx="9144000" cy="34925"/>
          </a:xfrm>
          <a:custGeom>
            <a:avLst/>
            <a:gdLst/>
            <a:ahLst/>
            <a:cxnLst/>
            <a:rect l="l" t="t" r="r" b="b"/>
            <a:pathLst>
              <a:path w="9144000" h="34925">
                <a:moveTo>
                  <a:pt x="0" y="34326"/>
                </a:moveTo>
                <a:lnTo>
                  <a:pt x="9144000" y="34326"/>
                </a:lnTo>
                <a:lnTo>
                  <a:pt x="9144000" y="0"/>
                </a:lnTo>
                <a:lnTo>
                  <a:pt x="0" y="0"/>
                </a:lnTo>
                <a:lnTo>
                  <a:pt x="0" y="34326"/>
                </a:lnTo>
                <a:close/>
              </a:path>
            </a:pathLst>
          </a:custGeom>
          <a:solidFill>
            <a:srgbClr val="1C4586"/>
          </a:solidFill>
        </p:spPr>
        <p:txBody>
          <a:bodyPr wrap="square" lIns="0" tIns="0" rIns="0" bIns="0" rtlCol="0"/>
          <a:lstStyle/>
          <a:p>
            <a:endParaRPr/>
          </a:p>
        </p:txBody>
      </p:sp>
      <p:sp>
        <p:nvSpPr>
          <p:cNvPr id="17" name="bg object 17"/>
          <p:cNvSpPr/>
          <p:nvPr/>
        </p:nvSpPr>
        <p:spPr>
          <a:xfrm>
            <a:off x="0" y="4890299"/>
            <a:ext cx="9144000" cy="0"/>
          </a:xfrm>
          <a:custGeom>
            <a:avLst/>
            <a:gdLst/>
            <a:ahLst/>
            <a:cxnLst/>
            <a:rect l="l" t="t" r="r" b="b"/>
            <a:pathLst>
              <a:path w="9144000">
                <a:moveTo>
                  <a:pt x="9144000" y="0"/>
                </a:moveTo>
                <a:lnTo>
                  <a:pt x="0" y="0"/>
                </a:lnTo>
              </a:path>
            </a:pathLst>
          </a:custGeom>
          <a:ln w="9525">
            <a:solidFill>
              <a:srgbClr val="FFFFFF"/>
            </a:solidFill>
          </a:ln>
        </p:spPr>
        <p:txBody>
          <a:bodyPr wrap="square" lIns="0" tIns="0" rIns="0" bIns="0" rtlCol="0"/>
          <a:lstStyle/>
          <a:p>
            <a:endParaRPr/>
          </a:p>
        </p:txBody>
      </p:sp>
      <p:sp>
        <p:nvSpPr>
          <p:cNvPr id="18" name="bg object 18"/>
          <p:cNvSpPr/>
          <p:nvPr/>
        </p:nvSpPr>
        <p:spPr>
          <a:xfrm>
            <a:off x="0" y="0"/>
            <a:ext cx="9144000" cy="5144135"/>
          </a:xfrm>
          <a:custGeom>
            <a:avLst/>
            <a:gdLst/>
            <a:ahLst/>
            <a:cxnLst/>
            <a:rect l="l" t="t" r="r" b="b"/>
            <a:pathLst>
              <a:path w="9144000" h="5144135">
                <a:moveTo>
                  <a:pt x="9144000" y="4924628"/>
                </a:moveTo>
                <a:lnTo>
                  <a:pt x="0" y="4924628"/>
                </a:lnTo>
                <a:lnTo>
                  <a:pt x="0" y="5143614"/>
                </a:lnTo>
                <a:lnTo>
                  <a:pt x="9144000" y="5143614"/>
                </a:lnTo>
                <a:lnTo>
                  <a:pt x="9144000" y="4924628"/>
                </a:lnTo>
                <a:close/>
              </a:path>
              <a:path w="9144000" h="5144135">
                <a:moveTo>
                  <a:pt x="9144000" y="0"/>
                </a:moveTo>
                <a:lnTo>
                  <a:pt x="0" y="0"/>
                </a:lnTo>
                <a:lnTo>
                  <a:pt x="0" y="331089"/>
                </a:lnTo>
                <a:lnTo>
                  <a:pt x="9144000" y="331089"/>
                </a:lnTo>
                <a:lnTo>
                  <a:pt x="9144000" y="0"/>
                </a:lnTo>
                <a:close/>
              </a:path>
            </a:pathLst>
          </a:custGeom>
          <a:solidFill>
            <a:srgbClr val="3C85C5"/>
          </a:solidFill>
        </p:spPr>
        <p:txBody>
          <a:bodyPr wrap="square" lIns="0" tIns="0" rIns="0" bIns="0" rtlCol="0"/>
          <a:lstStyle/>
          <a:p>
            <a:endParaRPr/>
          </a:p>
        </p:txBody>
      </p:sp>
      <p:sp>
        <p:nvSpPr>
          <p:cNvPr id="2" name="Holder 2"/>
          <p:cNvSpPr>
            <a:spLocks noGrp="1"/>
          </p:cNvSpPr>
          <p:nvPr>
            <p:ph type="title"/>
          </p:nvPr>
        </p:nvSpPr>
        <p:spPr>
          <a:xfrm>
            <a:off x="613968" y="382269"/>
            <a:ext cx="7962265" cy="452119"/>
          </a:xfrm>
          <a:prstGeom prst="rect">
            <a:avLst/>
          </a:prstGeom>
        </p:spPr>
        <p:txBody>
          <a:bodyPr wrap="square" lIns="0" tIns="0" rIns="0" bIns="0">
            <a:spAutoFit/>
          </a:bodyPr>
          <a:lstStyle>
            <a:lvl1pPr>
              <a:defRPr sz="2800" b="0" i="0">
                <a:solidFill>
                  <a:srgbClr val="3333CC"/>
                </a:solidFill>
                <a:latin typeface="Arial MT"/>
                <a:cs typeface="Arial MT"/>
              </a:defRPr>
            </a:lvl1pPr>
          </a:lstStyle>
          <a:p>
            <a:endParaRPr/>
          </a:p>
        </p:txBody>
      </p:sp>
      <p:sp>
        <p:nvSpPr>
          <p:cNvPr id="3" name="Holder 3"/>
          <p:cNvSpPr>
            <a:spLocks noGrp="1"/>
          </p:cNvSpPr>
          <p:nvPr>
            <p:ph type="body" idx="1"/>
          </p:nvPr>
        </p:nvSpPr>
        <p:spPr>
          <a:xfrm>
            <a:off x="1110157" y="1741042"/>
            <a:ext cx="6923684" cy="188848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392344" y="4944686"/>
            <a:ext cx="377825" cy="161595"/>
          </a:xfrm>
          <a:prstGeom prst="rect">
            <a:avLst/>
          </a:prstGeom>
        </p:spPr>
        <p:txBody>
          <a:bodyPr wrap="square" lIns="0" tIns="0" rIns="0" bIns="0">
            <a:spAutoFit/>
          </a:bodyPr>
          <a:lstStyle>
            <a:lvl1pPr>
              <a:defRPr sz="800" b="1" i="0">
                <a:solidFill>
                  <a:srgbClr val="EEEEEE"/>
                </a:solidFill>
                <a:latin typeface="Malgun Gothic"/>
                <a:cs typeface="Malgun Gothic"/>
              </a:defRPr>
            </a:lvl1pPr>
          </a:lstStyle>
          <a:p>
            <a:pPr marL="23495">
              <a:lnSpc>
                <a:spcPct val="100000"/>
              </a:lnSpc>
              <a:spcBef>
                <a:spcPts val="175"/>
              </a:spcBef>
            </a:pPr>
            <a:r>
              <a:rPr spc="-10" dirty="0"/>
              <a:t>Project</a:t>
            </a:r>
          </a:p>
        </p:txBody>
      </p:sp>
      <p:sp>
        <p:nvSpPr>
          <p:cNvPr id="5" name="Holder 5"/>
          <p:cNvSpPr>
            <a:spLocks noGrp="1"/>
          </p:cNvSpPr>
          <p:nvPr>
            <p:ph type="dt" sz="half" idx="6"/>
          </p:nvPr>
        </p:nvSpPr>
        <p:spPr>
          <a:xfrm>
            <a:off x="4740655" y="4944686"/>
            <a:ext cx="588645" cy="161595"/>
          </a:xfrm>
          <a:prstGeom prst="rect">
            <a:avLst/>
          </a:prstGeom>
        </p:spPr>
        <p:txBody>
          <a:bodyPr wrap="square" lIns="0" tIns="0" rIns="0" bIns="0">
            <a:spAutoFit/>
          </a:bodyPr>
          <a:lstStyle>
            <a:lvl1pPr>
              <a:defRPr sz="800" b="1" i="0">
                <a:solidFill>
                  <a:srgbClr val="EEEEEE"/>
                </a:solidFill>
                <a:latin typeface="Malgun Gothic"/>
                <a:cs typeface="Malgun Gothic"/>
              </a:defRPr>
            </a:lvl1pPr>
          </a:lstStyle>
          <a:p>
            <a:pPr marL="12700">
              <a:lnSpc>
                <a:spcPct val="100000"/>
              </a:lnSpc>
              <a:spcBef>
                <a:spcPts val="175"/>
              </a:spcBef>
            </a:pPr>
            <a:r>
              <a:rPr spc="-10" dirty="0"/>
              <a:t>28/03/2025</a:t>
            </a:r>
          </a:p>
        </p:txBody>
      </p:sp>
      <p:sp>
        <p:nvSpPr>
          <p:cNvPr id="6" name="Holder 6"/>
          <p:cNvSpPr>
            <a:spLocks noGrp="1"/>
          </p:cNvSpPr>
          <p:nvPr>
            <p:ph type="sldNum" sz="quarter" idx="7"/>
          </p:nvPr>
        </p:nvSpPr>
        <p:spPr>
          <a:xfrm>
            <a:off x="8937625" y="4947209"/>
            <a:ext cx="167640" cy="182879"/>
          </a:xfrm>
          <a:prstGeom prst="rect">
            <a:avLst/>
          </a:prstGeom>
        </p:spPr>
        <p:txBody>
          <a:bodyPr wrap="square" lIns="0" tIns="0" rIns="0" bIns="0">
            <a:spAutoFit/>
          </a:bodyPr>
          <a:lstStyle>
            <a:lvl1pPr>
              <a:defRPr sz="1100" b="1" i="0">
                <a:solidFill>
                  <a:srgbClr val="EEEEEE"/>
                </a:solidFill>
                <a:latin typeface="Arial"/>
                <a:cs typeface="Arial"/>
              </a:defRPr>
            </a:lvl1pPr>
          </a:lstStyle>
          <a:p>
            <a:pPr marL="38100">
              <a:lnSpc>
                <a:spcPct val="100000"/>
              </a:lnSpc>
            </a:pPr>
            <a:fld id="{81D60167-4931-47E6-BA6A-407CBD079E47}" type="slidenum">
              <a:rPr spc="-50" dirty="0"/>
              <a:t>‹N°›</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a:t>
            </a:r>
            <a:r>
              <a:rPr lang="fr-FR" spc="-10" dirty="0" smtClean="0"/>
              <a:t>8</a:t>
            </a:r>
            <a:r>
              <a:rPr spc="-10" dirty="0" smtClean="0"/>
              <a:t>/0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1</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dirty="0">
              <a:latin typeface="Arial"/>
              <a:cs typeface="Arial"/>
            </a:endParaRPr>
          </a:p>
        </p:txBody>
      </p:sp>
      <p:sp>
        <p:nvSpPr>
          <p:cNvPr id="9" name="object 25"/>
          <p:cNvSpPr txBox="1"/>
          <p:nvPr/>
        </p:nvSpPr>
        <p:spPr>
          <a:xfrm>
            <a:off x="1177950" y="1893434"/>
            <a:ext cx="6823710" cy="2739211"/>
          </a:xfrm>
          <a:prstGeom prst="rect">
            <a:avLst/>
          </a:prstGeom>
          <a:solidFill>
            <a:srgbClr val="3C85C5"/>
          </a:solidFill>
        </p:spPr>
        <p:txBody>
          <a:bodyPr vert="horz" wrap="square" lIns="0" tIns="0" rIns="0" bIns="0" rtlCol="0">
            <a:spAutoFit/>
          </a:bodyPr>
          <a:lstStyle/>
          <a:p>
            <a:pPr marL="2225675" marR="520065" indent="-1699895">
              <a:lnSpc>
                <a:spcPct val="100000"/>
              </a:lnSpc>
            </a:pPr>
            <a:r>
              <a:rPr lang="fr-FR" sz="1600" spc="-20" dirty="0" err="1" smtClean="0">
                <a:solidFill>
                  <a:srgbClr val="FFFFFF"/>
                </a:solidFill>
                <a:latin typeface="Arial MT"/>
                <a:cs typeface="Arial MT"/>
              </a:rPr>
              <a:t>Practical</a:t>
            </a:r>
            <a:r>
              <a:rPr lang="fr-FR" sz="1600" spc="-20" dirty="0" smtClean="0">
                <a:solidFill>
                  <a:srgbClr val="FFFFFF"/>
                </a:solidFill>
                <a:latin typeface="Arial MT"/>
                <a:cs typeface="Arial MT"/>
              </a:rPr>
              <a:t> </a:t>
            </a:r>
            <a:r>
              <a:rPr lang="fr-FR" sz="1600" spc="-20" dirty="0" err="1" smtClean="0">
                <a:solidFill>
                  <a:srgbClr val="FFFFFF"/>
                </a:solidFill>
                <a:latin typeface="Arial MT"/>
                <a:cs typeface="Arial MT"/>
              </a:rPr>
              <a:t>Work</a:t>
            </a:r>
            <a:r>
              <a:rPr lang="fr-FR" sz="1600" spc="-20" dirty="0" smtClean="0">
                <a:solidFill>
                  <a:srgbClr val="FFFFFF"/>
                </a:solidFill>
                <a:latin typeface="Arial MT"/>
                <a:cs typeface="Arial MT"/>
              </a:rPr>
              <a:t> – GGOSSS 2025</a:t>
            </a:r>
          </a:p>
          <a:p>
            <a:pPr marL="2225675" marR="520065" indent="-1699895">
              <a:lnSpc>
                <a:spcPct val="100000"/>
              </a:lnSpc>
            </a:pPr>
            <a:r>
              <a:rPr lang="fr-FR" sz="1600" dirty="0" smtClean="0">
                <a:solidFill>
                  <a:schemeClr val="bg1"/>
                </a:solidFill>
                <a:latin typeface="Arial MT"/>
                <a:cs typeface="Arial MT"/>
              </a:rPr>
              <a:t>Group 3 – </a:t>
            </a:r>
            <a:r>
              <a:rPr lang="fr-FR" sz="1600" dirty="0" err="1" smtClean="0">
                <a:solidFill>
                  <a:schemeClr val="bg1"/>
                </a:solidFill>
                <a:latin typeface="Arial MT"/>
                <a:cs typeface="Arial MT"/>
              </a:rPr>
              <a:t>Ocean</a:t>
            </a:r>
            <a:r>
              <a:rPr lang="fr-FR" sz="1600" dirty="0" smtClean="0">
                <a:solidFill>
                  <a:schemeClr val="bg1"/>
                </a:solidFill>
                <a:latin typeface="Arial MT"/>
                <a:cs typeface="Arial MT"/>
              </a:rPr>
              <a:t> </a:t>
            </a:r>
            <a:r>
              <a:rPr lang="fr-FR" sz="1600" dirty="0" err="1" smtClean="0">
                <a:solidFill>
                  <a:schemeClr val="bg1"/>
                </a:solidFill>
                <a:latin typeface="Arial MT"/>
                <a:cs typeface="Arial MT"/>
              </a:rPr>
              <a:t>Modeling</a:t>
            </a:r>
            <a:r>
              <a:rPr lang="fr-FR" sz="1600" dirty="0" smtClean="0">
                <a:solidFill>
                  <a:schemeClr val="bg1"/>
                </a:solidFill>
                <a:latin typeface="Arial MT"/>
                <a:cs typeface="Arial MT"/>
              </a:rPr>
              <a:t>  </a:t>
            </a:r>
          </a:p>
          <a:p>
            <a:pPr marL="2225675" marR="520065" indent="-1699895">
              <a:lnSpc>
                <a:spcPct val="100000"/>
              </a:lnSpc>
            </a:pPr>
            <a:r>
              <a:rPr lang="fr-FR" sz="1600" dirty="0" err="1" smtClean="0">
                <a:solidFill>
                  <a:schemeClr val="bg1"/>
                </a:solidFill>
                <a:latin typeface="Arial MT"/>
                <a:cs typeface="Arial MT"/>
              </a:rPr>
              <a:t>Summer</a:t>
            </a:r>
            <a:r>
              <a:rPr lang="fr-FR" sz="1600" dirty="0" smtClean="0">
                <a:solidFill>
                  <a:schemeClr val="bg1"/>
                </a:solidFill>
                <a:latin typeface="Arial MT"/>
                <a:cs typeface="Arial MT"/>
              </a:rPr>
              <a:t> </a:t>
            </a:r>
            <a:r>
              <a:rPr lang="fr-FR" sz="1600" dirty="0" err="1" smtClean="0">
                <a:solidFill>
                  <a:schemeClr val="bg1"/>
                </a:solidFill>
                <a:latin typeface="Arial MT"/>
                <a:cs typeface="Arial MT"/>
              </a:rPr>
              <a:t>School</a:t>
            </a:r>
            <a:r>
              <a:rPr lang="fr-FR" sz="1600" dirty="0" smtClean="0">
                <a:solidFill>
                  <a:schemeClr val="bg1"/>
                </a:solidFill>
                <a:latin typeface="Arial MT"/>
                <a:cs typeface="Arial MT"/>
              </a:rPr>
              <a:t> GGOSSS-2025</a:t>
            </a:r>
          </a:p>
          <a:p>
            <a:pPr marL="2225675" marR="520065" indent="-1699895">
              <a:lnSpc>
                <a:spcPct val="100000"/>
              </a:lnSpc>
            </a:pPr>
            <a:r>
              <a:rPr lang="fr-FR" sz="1600" dirty="0" smtClean="0"/>
              <a:t> </a:t>
            </a:r>
            <a:endParaRPr lang="fr-FR" sz="1600" dirty="0">
              <a:solidFill>
                <a:schemeClr val="bg1"/>
              </a:solidFill>
              <a:latin typeface="Arial MT"/>
              <a:cs typeface="Arial MT"/>
            </a:endParaRPr>
          </a:p>
          <a:p>
            <a:pPr marL="2225675" marR="520065" indent="-1699895">
              <a:lnSpc>
                <a:spcPct val="100000"/>
              </a:lnSpc>
            </a:pPr>
            <a:r>
              <a:rPr lang="fr-FR" sz="1600" dirty="0" err="1" smtClean="0">
                <a:solidFill>
                  <a:schemeClr val="bg1"/>
                </a:solidFill>
                <a:latin typeface="Arial MT"/>
                <a:cs typeface="Arial MT"/>
              </a:rPr>
              <a:t>Theme</a:t>
            </a:r>
            <a:r>
              <a:rPr lang="fr-FR" sz="1600" dirty="0" smtClean="0">
                <a:solidFill>
                  <a:schemeClr val="bg1"/>
                </a:solidFill>
                <a:latin typeface="Arial MT"/>
                <a:cs typeface="Arial MT"/>
              </a:rPr>
              <a:t> : </a:t>
            </a:r>
            <a:r>
              <a:rPr lang="fr-FR" sz="1600" dirty="0" err="1" smtClean="0">
                <a:solidFill>
                  <a:schemeClr val="bg1"/>
                </a:solidFill>
                <a:latin typeface="Arial MT"/>
                <a:cs typeface="Arial MT"/>
              </a:rPr>
              <a:t>Correlate</a:t>
            </a:r>
            <a:r>
              <a:rPr lang="fr-FR" sz="1600" dirty="0" smtClean="0">
                <a:solidFill>
                  <a:schemeClr val="bg1"/>
                </a:solidFill>
                <a:latin typeface="Arial MT"/>
                <a:cs typeface="Arial MT"/>
              </a:rPr>
              <a:t> the Upwelling </a:t>
            </a:r>
            <a:r>
              <a:rPr lang="fr-FR" sz="1600" dirty="0" err="1" smtClean="0">
                <a:solidFill>
                  <a:schemeClr val="bg1"/>
                </a:solidFill>
                <a:latin typeface="Arial MT"/>
                <a:cs typeface="Arial MT"/>
              </a:rPr>
              <a:t>Intensity</a:t>
            </a:r>
            <a:r>
              <a:rPr lang="fr-FR" sz="1600" dirty="0" smtClean="0">
                <a:solidFill>
                  <a:schemeClr val="bg1"/>
                </a:solidFill>
                <a:latin typeface="Arial MT"/>
                <a:cs typeface="Arial MT"/>
              </a:rPr>
              <a:t> </a:t>
            </a:r>
            <a:r>
              <a:rPr lang="fr-FR" sz="1600" dirty="0" err="1" smtClean="0">
                <a:solidFill>
                  <a:schemeClr val="bg1"/>
                </a:solidFill>
                <a:latin typeface="Arial MT"/>
                <a:cs typeface="Arial MT"/>
              </a:rPr>
              <a:t>with</a:t>
            </a:r>
            <a:r>
              <a:rPr lang="fr-FR" sz="1600" dirty="0" smtClean="0">
                <a:solidFill>
                  <a:schemeClr val="bg1"/>
                </a:solidFill>
                <a:latin typeface="Arial MT"/>
                <a:cs typeface="Arial MT"/>
              </a:rPr>
              <a:t> </a:t>
            </a:r>
            <a:r>
              <a:rPr lang="fr-FR" sz="1600" dirty="0" err="1" smtClean="0">
                <a:solidFill>
                  <a:schemeClr val="bg1"/>
                </a:solidFill>
                <a:latin typeface="Arial MT"/>
                <a:cs typeface="Arial MT"/>
              </a:rPr>
              <a:t>wind</a:t>
            </a:r>
            <a:r>
              <a:rPr lang="fr-FR" sz="1600" dirty="0" smtClean="0">
                <a:solidFill>
                  <a:schemeClr val="bg1"/>
                </a:solidFill>
                <a:latin typeface="Arial MT"/>
                <a:cs typeface="Arial MT"/>
              </a:rPr>
              <a:t> variations over the </a:t>
            </a:r>
            <a:r>
              <a:rPr lang="fr-FR" sz="1600" dirty="0" err="1" smtClean="0">
                <a:solidFill>
                  <a:schemeClr val="bg1"/>
                </a:solidFill>
                <a:latin typeface="Arial MT"/>
                <a:cs typeface="Arial MT"/>
              </a:rPr>
              <a:t>length</a:t>
            </a:r>
            <a:r>
              <a:rPr lang="fr-FR" sz="1600" dirty="0" smtClean="0">
                <a:solidFill>
                  <a:schemeClr val="bg1"/>
                </a:solidFill>
                <a:latin typeface="Arial MT"/>
                <a:cs typeface="Arial MT"/>
              </a:rPr>
              <a:t> of the simulations ?</a:t>
            </a:r>
          </a:p>
          <a:p>
            <a:pPr marL="2225675" marR="520065" indent="-1699895">
              <a:lnSpc>
                <a:spcPct val="100000"/>
              </a:lnSpc>
            </a:pPr>
            <a:r>
              <a:rPr lang="fr-FR" sz="1600" dirty="0" smtClean="0"/>
              <a:t> </a:t>
            </a:r>
            <a:endParaRPr lang="fr-FR" sz="1600" dirty="0" smtClean="0">
              <a:solidFill>
                <a:schemeClr val="bg1"/>
              </a:solidFill>
              <a:latin typeface="Arial MT"/>
              <a:cs typeface="Arial MT"/>
            </a:endParaRPr>
          </a:p>
          <a:p>
            <a:pPr marL="2225675" marR="520065" indent="-1699895">
              <a:lnSpc>
                <a:spcPct val="100000"/>
              </a:lnSpc>
            </a:pPr>
            <a:r>
              <a:rPr lang="fr-FR" sz="1600" dirty="0" smtClean="0">
                <a:solidFill>
                  <a:schemeClr val="bg1"/>
                </a:solidFill>
                <a:latin typeface="Arial MT"/>
                <a:cs typeface="Arial MT"/>
              </a:rPr>
              <a:t>Atelier animé par: Dr. </a:t>
            </a:r>
            <a:r>
              <a:rPr lang="fr-FR" sz="1600" smtClean="0">
                <a:solidFill>
                  <a:schemeClr val="bg1"/>
                </a:solidFill>
                <a:latin typeface="Arial MT"/>
                <a:cs typeface="Arial MT"/>
              </a:rPr>
              <a:t>Audrey, Dr</a:t>
            </a:r>
            <a:r>
              <a:rPr lang="fr-FR" sz="1600" dirty="0" smtClean="0">
                <a:solidFill>
                  <a:schemeClr val="bg1"/>
                </a:solidFill>
                <a:latin typeface="Arial MT"/>
                <a:cs typeface="Arial MT"/>
              </a:rPr>
              <a:t>. Franck </a:t>
            </a:r>
            <a:r>
              <a:rPr lang="fr-FR" sz="1600" dirty="0" err="1" smtClean="0">
                <a:solidFill>
                  <a:schemeClr val="bg1"/>
                </a:solidFill>
                <a:latin typeface="Arial MT"/>
                <a:cs typeface="Arial MT"/>
              </a:rPr>
              <a:t>Ghomsi</a:t>
            </a:r>
            <a:r>
              <a:rPr lang="fr-FR" sz="1600" dirty="0" smtClean="0">
                <a:solidFill>
                  <a:schemeClr val="bg1"/>
                </a:solidFill>
                <a:latin typeface="Arial MT"/>
                <a:cs typeface="Arial MT"/>
              </a:rPr>
              <a:t> et Dr. </a:t>
            </a:r>
            <a:r>
              <a:rPr lang="fr-FR" sz="1600" dirty="0" err="1" smtClean="0">
                <a:solidFill>
                  <a:schemeClr val="bg1"/>
                </a:solidFill>
                <a:latin typeface="Arial MT"/>
                <a:cs typeface="Arial MT"/>
              </a:rPr>
              <a:t>Assene</a:t>
            </a:r>
            <a:endParaRPr lang="fr-FR" sz="1600" dirty="0" smtClean="0">
              <a:solidFill>
                <a:schemeClr val="bg1"/>
              </a:solidFill>
              <a:latin typeface="Arial MT"/>
              <a:cs typeface="Arial MT"/>
            </a:endParaRPr>
          </a:p>
          <a:p>
            <a:pPr marL="2225675" marR="520065" indent="-1699895">
              <a:lnSpc>
                <a:spcPct val="100000"/>
              </a:lnSpc>
            </a:pPr>
            <a:endParaRPr lang="fr-FR" sz="1600" dirty="0">
              <a:solidFill>
                <a:schemeClr val="bg1"/>
              </a:solidFill>
              <a:latin typeface="Arial MT"/>
              <a:cs typeface="Arial MT"/>
            </a:endParaRPr>
          </a:p>
          <a:p>
            <a:pPr marL="2225675" marR="520065" indent="-1699895">
              <a:lnSpc>
                <a:spcPct val="100000"/>
              </a:lnSpc>
            </a:pPr>
            <a:endParaRPr lang="fr-FR" sz="1600" dirty="0" smtClean="0">
              <a:solidFill>
                <a:schemeClr val="bg1"/>
              </a:solidFill>
              <a:latin typeface="Arial MT"/>
              <a:cs typeface="Arial MT"/>
            </a:endParaRPr>
          </a:p>
          <a:p>
            <a:pPr marL="2225675" marR="520065" indent="-1699895">
              <a:lnSpc>
                <a:spcPct val="100000"/>
              </a:lnSpc>
            </a:pPr>
            <a:r>
              <a:rPr lang="fr-FR" sz="1600" dirty="0" smtClean="0">
                <a:solidFill>
                  <a:schemeClr val="bg1"/>
                </a:solidFill>
                <a:latin typeface="Arial MT"/>
                <a:cs typeface="Arial MT"/>
              </a:rPr>
              <a:t>Membres : </a:t>
            </a:r>
            <a:r>
              <a:rPr lang="en-US" sz="1600" dirty="0" smtClean="0">
                <a:solidFill>
                  <a:schemeClr val="bg1"/>
                </a:solidFill>
                <a:latin typeface="Arial MT"/>
                <a:cs typeface="Arial MT"/>
              </a:rPr>
              <a:t>Julio, Roy, </a:t>
            </a:r>
            <a:r>
              <a:rPr lang="en-US" sz="1600" dirty="0" err="1" smtClean="0">
                <a:solidFill>
                  <a:schemeClr val="bg1"/>
                </a:solidFill>
                <a:latin typeface="Arial MT"/>
                <a:cs typeface="Arial MT"/>
              </a:rPr>
              <a:t>Lyne</a:t>
            </a:r>
            <a:r>
              <a:rPr lang="en-US" sz="1600" dirty="0" smtClean="0">
                <a:solidFill>
                  <a:schemeClr val="bg1"/>
                </a:solidFill>
                <a:latin typeface="Arial MT"/>
                <a:cs typeface="Arial MT"/>
              </a:rPr>
              <a:t>, Willy &amp; </a:t>
            </a:r>
            <a:r>
              <a:rPr lang="en-US" sz="1600" dirty="0" err="1" smtClean="0">
                <a:solidFill>
                  <a:schemeClr val="bg1"/>
                </a:solidFill>
                <a:latin typeface="Arial MT"/>
                <a:cs typeface="Arial MT"/>
              </a:rPr>
              <a:t>Bikop</a:t>
            </a:r>
            <a:endParaRPr sz="1600" dirty="0">
              <a:solidFill>
                <a:schemeClr val="bg1"/>
              </a:solidFill>
              <a:latin typeface="Arial MT"/>
              <a:cs typeface="Arial MT"/>
            </a:endParaRPr>
          </a:p>
        </p:txBody>
      </p:sp>
      <p:pic>
        <p:nvPicPr>
          <p:cNvPr id="10" name="Imag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399" y="1"/>
            <a:ext cx="2767203" cy="1540660"/>
          </a:xfrm>
          <a:prstGeom prst="rect">
            <a:avLst/>
          </a:prstGeom>
        </p:spPr>
      </p:pic>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74"/>
            <a:ext cx="3200400" cy="1532047"/>
          </a:xfrm>
          <a:prstGeom prst="rect">
            <a:avLst/>
          </a:prstGeom>
        </p:spPr>
      </p:pic>
      <p:pic>
        <p:nvPicPr>
          <p:cNvPr id="12" name="Imag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7603" y="-3274"/>
            <a:ext cx="3176524" cy="153204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9417" y="-13970"/>
            <a:ext cx="6273165" cy="299720"/>
          </a:xfrm>
          <a:prstGeom prst="rect">
            <a:avLst/>
          </a:prstGeom>
        </p:spPr>
        <p:txBody>
          <a:bodyPr vert="horz" wrap="square" lIns="0" tIns="12700" rIns="0" bIns="0" rtlCol="0">
            <a:spAutoFit/>
          </a:bodyPr>
          <a:lstStyle/>
          <a:p>
            <a:pPr marL="12700">
              <a:lnSpc>
                <a:spcPct val="100000"/>
              </a:lnSpc>
              <a:spcBef>
                <a:spcPts val="100"/>
              </a:spcBef>
            </a:pPr>
            <a:r>
              <a:rPr lang="fr-FR" dirty="0">
                <a:solidFill>
                  <a:srgbClr val="FFFFFF"/>
                </a:solidFill>
                <a:latin typeface="Arial MT"/>
                <a:cs typeface="Arial MT"/>
              </a:rPr>
              <a:t> </a:t>
            </a:r>
            <a:r>
              <a:rPr lang="fr-FR" dirty="0" smtClean="0">
                <a:solidFill>
                  <a:srgbClr val="FFFFFF"/>
                </a:solidFill>
                <a:latin typeface="Arial MT"/>
                <a:cs typeface="Arial MT"/>
              </a:rPr>
              <a:t>                                        </a:t>
            </a:r>
            <a:r>
              <a:rPr lang="fr-FR" spc="30" dirty="0" smtClean="0">
                <a:solidFill>
                  <a:srgbClr val="FFFFFF"/>
                </a:solidFill>
                <a:latin typeface="Arial MT"/>
                <a:cs typeface="Arial MT"/>
              </a:rPr>
              <a:t> Context</a:t>
            </a:r>
            <a:endParaRPr sz="1800" dirty="0">
              <a:latin typeface="Arial MT"/>
              <a:cs typeface="Arial MT"/>
            </a:endParaRPr>
          </a:p>
        </p:txBody>
      </p:sp>
      <p:sp>
        <p:nvSpPr>
          <p:cNvPr id="4" name="object 4"/>
          <p:cNvSpPr txBox="1"/>
          <p:nvPr/>
        </p:nvSpPr>
        <p:spPr>
          <a:xfrm>
            <a:off x="1557908" y="1504950"/>
            <a:ext cx="6036182" cy="1860125"/>
          </a:xfrm>
          <a:prstGeom prst="rect">
            <a:avLst/>
          </a:prstGeom>
        </p:spPr>
        <p:txBody>
          <a:bodyPr vert="horz" wrap="square" lIns="0" tIns="13335" rIns="0" bIns="0" rtlCol="0">
            <a:spAutoFit/>
          </a:bodyPr>
          <a:lstStyle/>
          <a:p>
            <a:pPr marL="12700" algn="just">
              <a:lnSpc>
                <a:spcPct val="100000"/>
              </a:lnSpc>
              <a:spcBef>
                <a:spcPts val="105"/>
              </a:spcBef>
            </a:pPr>
            <a:r>
              <a:rPr lang="en-US" sz="2000" dirty="0" smtClean="0">
                <a:latin typeface="Arial"/>
                <a:cs typeface="Arial"/>
              </a:rPr>
              <a:t>Upwelling is a key oceanographic process that brings nutrient-rich waters to the surface, strongly influencing primary productivity and ecosystem dynamics. Understanding how wind forcing drives upwelling intensity is crucial for quantifying variability in ocean circulation and its ecological impacts.</a:t>
            </a:r>
            <a:endParaRPr sz="2000" dirty="0">
              <a:latin typeface="Arial"/>
              <a:cs typeface="Arial"/>
            </a:endParaRPr>
          </a:p>
        </p:txBody>
      </p:sp>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28/0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2</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9417" y="10904"/>
            <a:ext cx="6225407" cy="579646"/>
          </a:xfrm>
          <a:prstGeom prst="rect">
            <a:avLst/>
          </a:prstGeom>
        </p:spPr>
        <p:txBody>
          <a:bodyPr vert="horz" wrap="square" lIns="0" tIns="12700" rIns="0" bIns="0" rtlCol="0">
            <a:spAutoFit/>
          </a:bodyPr>
          <a:lstStyle/>
          <a:p>
            <a:pPr marL="12700" algn="ctr">
              <a:spcBef>
                <a:spcPts val="100"/>
              </a:spcBef>
            </a:pPr>
            <a:r>
              <a:rPr lang="fr-FR" sz="1800" dirty="0" smtClean="0">
                <a:solidFill>
                  <a:srgbClr val="FFFFFF"/>
                </a:solidFill>
                <a:latin typeface="Arial MT"/>
                <a:cs typeface="Arial MT"/>
              </a:rPr>
              <a:t>Scientific Objective</a:t>
            </a:r>
            <a:r>
              <a:rPr sz="1800" spc="-15" dirty="0" smtClean="0">
                <a:solidFill>
                  <a:srgbClr val="FFFFFF"/>
                </a:solidFill>
                <a:latin typeface="Arial MT"/>
                <a:cs typeface="Arial MT"/>
              </a:rPr>
              <a:t> </a:t>
            </a:r>
            <a:r>
              <a:rPr lang="fr-FR" sz="1800" dirty="0" smtClean="0">
                <a:solidFill>
                  <a:srgbClr val="FFFFFF"/>
                </a:solidFill>
                <a:latin typeface="Arial MT"/>
                <a:cs typeface="Arial MT"/>
              </a:rPr>
              <a:t> </a:t>
            </a:r>
            <a:endParaRPr lang="en-US" b="1" dirty="0" smtClean="0">
              <a:latin typeface="Segoe UI"/>
              <a:cs typeface="Segoe UI"/>
            </a:endParaRPr>
          </a:p>
          <a:p>
            <a:pPr marL="12700">
              <a:lnSpc>
                <a:spcPct val="100000"/>
              </a:lnSpc>
              <a:spcBef>
                <a:spcPts val="100"/>
              </a:spcBef>
            </a:pPr>
            <a:endParaRPr sz="1800" dirty="0">
              <a:latin typeface="Arial MT"/>
              <a:cs typeface="Arial MT"/>
            </a:endParaRPr>
          </a:p>
        </p:txBody>
      </p:sp>
      <p:sp>
        <p:nvSpPr>
          <p:cNvPr id="4" name="object 4"/>
          <p:cNvSpPr txBox="1"/>
          <p:nvPr/>
        </p:nvSpPr>
        <p:spPr>
          <a:xfrm>
            <a:off x="1669967" y="1200150"/>
            <a:ext cx="5764306" cy="2021707"/>
          </a:xfrm>
          <a:prstGeom prst="rect">
            <a:avLst/>
          </a:prstGeom>
        </p:spPr>
        <p:txBody>
          <a:bodyPr vert="horz" wrap="square" lIns="0" tIns="13335" rIns="0" bIns="0" rtlCol="0">
            <a:spAutoFit/>
          </a:bodyPr>
          <a:lstStyle/>
          <a:p>
            <a:pPr marL="12700" marR="0" lvl="0" indent="0" algn="just" defTabSz="914400" eaLnBrk="1" fontAlgn="auto" latinLnBrk="0" hangingPunct="1">
              <a:lnSpc>
                <a:spcPct val="100000"/>
              </a:lnSpc>
              <a:spcBef>
                <a:spcPts val="105"/>
              </a:spcBef>
              <a:spcAft>
                <a:spcPts val="0"/>
              </a:spcAft>
              <a:buClrTx/>
              <a:buSzTx/>
              <a:buFontTx/>
              <a:buNone/>
              <a:tabLst/>
              <a:defRPr/>
            </a:pPr>
            <a:r>
              <a:rPr lang="en-US" sz="1600" b="1" dirty="0" smtClean="0">
                <a:latin typeface="Segoe UI"/>
                <a:cs typeface="Segoe UI"/>
              </a:rPr>
              <a:t> </a:t>
            </a:r>
          </a:p>
          <a:p>
            <a:pPr marL="12700" algn="just">
              <a:lnSpc>
                <a:spcPct val="100000"/>
              </a:lnSpc>
              <a:spcBef>
                <a:spcPts val="105"/>
              </a:spcBef>
            </a:pPr>
            <a:endParaRPr lang="en-US" sz="1600" b="1" dirty="0">
              <a:latin typeface="Segoe UI"/>
              <a:cs typeface="Segoe UI"/>
            </a:endParaRPr>
          </a:p>
          <a:p>
            <a:pPr marL="12700" algn="just">
              <a:lnSpc>
                <a:spcPct val="100000"/>
              </a:lnSpc>
              <a:spcBef>
                <a:spcPts val="105"/>
              </a:spcBef>
            </a:pPr>
            <a:endParaRPr lang="en-US" sz="1600" b="1" dirty="0" smtClean="0">
              <a:latin typeface="Segoe UI"/>
              <a:cs typeface="Segoe UI"/>
            </a:endParaRPr>
          </a:p>
          <a:p>
            <a:pPr marL="12700" algn="just">
              <a:lnSpc>
                <a:spcPct val="100000"/>
              </a:lnSpc>
              <a:spcBef>
                <a:spcPts val="105"/>
              </a:spcBef>
            </a:pPr>
            <a:r>
              <a:rPr lang="en-US" sz="1600" dirty="0" smtClean="0">
                <a:latin typeface="Segoe UI"/>
                <a:cs typeface="Segoe UI"/>
              </a:rPr>
              <a:t>The main objective of this work is to </a:t>
            </a:r>
            <a:r>
              <a:rPr lang="en-US" sz="1600" b="1" dirty="0" smtClean="0">
                <a:latin typeface="Segoe UI"/>
                <a:cs typeface="Segoe UI"/>
              </a:rPr>
              <a:t>correlate the upwelling intensity with wind variations over the length of the simulation</a:t>
            </a:r>
            <a:r>
              <a:rPr lang="en-US" sz="1600" dirty="0" smtClean="0">
                <a:latin typeface="Segoe UI"/>
                <a:cs typeface="Segoe UI"/>
              </a:rPr>
              <a:t>.  This involves quantifying how changes in wind speed and direction modulate the strength and spatial distribution of upwelling </a:t>
            </a:r>
            <a:endParaRPr sz="1600" dirty="0">
              <a:latin typeface="Arial"/>
              <a:cs typeface="Arial"/>
            </a:endParaRPr>
          </a:p>
        </p:txBody>
      </p:sp>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28/0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3</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9417" y="-56007"/>
            <a:ext cx="6273165" cy="299720"/>
          </a:xfrm>
          <a:prstGeom prst="rect">
            <a:avLst/>
          </a:prstGeom>
        </p:spPr>
        <p:txBody>
          <a:bodyPr vert="horz" wrap="square" lIns="0" tIns="12700" rIns="0" bIns="0" rtlCol="0">
            <a:spAutoFit/>
          </a:bodyPr>
          <a:lstStyle/>
          <a:p>
            <a:pPr marL="12700" algn="ctr">
              <a:lnSpc>
                <a:spcPct val="100000"/>
              </a:lnSpc>
              <a:spcBef>
                <a:spcPts val="100"/>
              </a:spcBef>
            </a:pPr>
            <a:r>
              <a:rPr lang="fr-FR" dirty="0" err="1" smtClean="0">
                <a:solidFill>
                  <a:srgbClr val="FFFFFF"/>
                </a:solidFill>
                <a:latin typeface="Arial MT"/>
                <a:cs typeface="Arial MT"/>
              </a:rPr>
              <a:t>Specific</a:t>
            </a:r>
            <a:r>
              <a:rPr lang="fr-FR" dirty="0" smtClean="0">
                <a:solidFill>
                  <a:srgbClr val="FFFFFF"/>
                </a:solidFill>
                <a:latin typeface="Arial MT"/>
                <a:cs typeface="Arial MT"/>
              </a:rPr>
              <a:t> </a:t>
            </a:r>
            <a:r>
              <a:rPr lang="fr-FR" dirty="0" err="1" smtClean="0">
                <a:solidFill>
                  <a:srgbClr val="FFFFFF"/>
                </a:solidFill>
                <a:latin typeface="Arial MT"/>
                <a:cs typeface="Arial MT"/>
              </a:rPr>
              <a:t>Objecive</a:t>
            </a:r>
            <a:endParaRPr sz="1800" dirty="0">
              <a:latin typeface="Arial MT"/>
              <a:cs typeface="Arial MT"/>
            </a:endParaRPr>
          </a:p>
        </p:txBody>
      </p:sp>
      <p:sp>
        <p:nvSpPr>
          <p:cNvPr id="4" name="object 4"/>
          <p:cNvSpPr txBox="1"/>
          <p:nvPr/>
        </p:nvSpPr>
        <p:spPr>
          <a:xfrm>
            <a:off x="2438400" y="1009014"/>
            <a:ext cx="4343399" cy="3347711"/>
          </a:xfrm>
          <a:prstGeom prst="rect">
            <a:avLst/>
          </a:prstGeom>
        </p:spPr>
        <p:txBody>
          <a:bodyPr vert="horz" wrap="square" lIns="0" tIns="13335" rIns="0" bIns="0" rtlCol="0">
            <a:spAutoFit/>
          </a:bodyPr>
          <a:lstStyle/>
          <a:p>
            <a:pPr marL="12700" algn="just">
              <a:lnSpc>
                <a:spcPct val="100000"/>
              </a:lnSpc>
              <a:spcBef>
                <a:spcPts val="105"/>
              </a:spcBef>
            </a:pPr>
            <a:r>
              <a:rPr lang="en-US" sz="1400" b="1" dirty="0" smtClean="0">
                <a:latin typeface="Arial"/>
                <a:cs typeface="Arial"/>
              </a:rPr>
              <a:t>Research Questions</a:t>
            </a:r>
          </a:p>
          <a:p>
            <a:pPr marL="12700" algn="just">
              <a:lnSpc>
                <a:spcPct val="100000"/>
              </a:lnSpc>
              <a:spcBef>
                <a:spcPts val="105"/>
              </a:spcBef>
            </a:pPr>
            <a:endParaRPr lang="en-US" sz="1400" b="1" dirty="0">
              <a:latin typeface="Arial"/>
              <a:cs typeface="Arial"/>
            </a:endParaRPr>
          </a:p>
          <a:p>
            <a:pPr marL="355600" indent="-342900" algn="just">
              <a:lnSpc>
                <a:spcPct val="100000"/>
              </a:lnSpc>
              <a:spcBef>
                <a:spcPts val="105"/>
              </a:spcBef>
              <a:buAutoNum type="arabicPeriod"/>
            </a:pPr>
            <a:r>
              <a:rPr lang="en-US" sz="1400" b="1" dirty="0" smtClean="0">
                <a:latin typeface="Arial"/>
                <a:cs typeface="Arial"/>
              </a:rPr>
              <a:t>How does wind variability (speed and direction) influence upwelling intensity over time?</a:t>
            </a:r>
          </a:p>
          <a:p>
            <a:pPr marL="355600" indent="-342900" algn="just">
              <a:lnSpc>
                <a:spcPct val="100000"/>
              </a:lnSpc>
              <a:spcBef>
                <a:spcPts val="105"/>
              </a:spcBef>
              <a:buAutoNum type="arabicPeriod"/>
            </a:pPr>
            <a:endParaRPr lang="en-US" sz="1400" b="1" dirty="0" smtClean="0">
              <a:latin typeface="Arial"/>
              <a:cs typeface="Arial"/>
            </a:endParaRPr>
          </a:p>
          <a:p>
            <a:pPr marL="355600" indent="-342900" algn="just">
              <a:lnSpc>
                <a:spcPct val="100000"/>
              </a:lnSpc>
              <a:spcBef>
                <a:spcPts val="105"/>
              </a:spcBef>
              <a:buAutoNum type="arabicPeriod"/>
            </a:pPr>
            <a:r>
              <a:rPr lang="en-US" sz="1400" b="1" dirty="0" smtClean="0">
                <a:latin typeface="Arial"/>
                <a:cs typeface="Arial"/>
              </a:rPr>
              <a:t>Is there a spatial correlation between regions of stronger wind stress and stronger upwelling?</a:t>
            </a:r>
          </a:p>
          <a:p>
            <a:pPr marL="355600" indent="-342900" algn="just">
              <a:lnSpc>
                <a:spcPct val="100000"/>
              </a:lnSpc>
              <a:spcBef>
                <a:spcPts val="105"/>
              </a:spcBef>
              <a:buAutoNum type="arabicPeriod"/>
            </a:pPr>
            <a:endParaRPr lang="en-US" sz="1400" b="1" dirty="0" smtClean="0">
              <a:latin typeface="Arial"/>
              <a:cs typeface="Arial"/>
            </a:endParaRPr>
          </a:p>
          <a:p>
            <a:pPr marL="355600" indent="-342900" algn="just">
              <a:lnSpc>
                <a:spcPct val="100000"/>
              </a:lnSpc>
              <a:spcBef>
                <a:spcPts val="105"/>
              </a:spcBef>
              <a:buAutoNum type="arabicPeriod"/>
            </a:pPr>
            <a:r>
              <a:rPr lang="en-US" sz="1400" b="1" dirty="0" smtClean="0">
                <a:latin typeface="Arial"/>
                <a:cs typeface="Arial"/>
              </a:rPr>
              <a:t>What is the timescale of the response of upwelling intensity to wind forcing?</a:t>
            </a:r>
          </a:p>
          <a:p>
            <a:pPr marL="355600" indent="-342900" algn="just">
              <a:lnSpc>
                <a:spcPct val="100000"/>
              </a:lnSpc>
              <a:spcBef>
                <a:spcPts val="105"/>
              </a:spcBef>
              <a:buAutoNum type="arabicPeriod"/>
            </a:pPr>
            <a:endParaRPr lang="en-US" sz="1400" b="1" dirty="0" smtClean="0">
              <a:latin typeface="Arial"/>
              <a:cs typeface="Arial"/>
            </a:endParaRPr>
          </a:p>
          <a:p>
            <a:pPr marL="355600" indent="-342900" algn="just">
              <a:lnSpc>
                <a:spcPct val="100000"/>
              </a:lnSpc>
              <a:spcBef>
                <a:spcPts val="105"/>
              </a:spcBef>
              <a:buAutoNum type="arabicPeriod"/>
            </a:pPr>
            <a:r>
              <a:rPr lang="en-US" sz="1400" b="1" dirty="0" smtClean="0">
                <a:latin typeface="Arial"/>
                <a:cs typeface="Arial"/>
              </a:rPr>
              <a:t>Can we identify seasonal or event-based patterns that amplify upwelling?</a:t>
            </a:r>
            <a:endParaRPr sz="1400" dirty="0">
              <a:latin typeface="Arial"/>
              <a:cs typeface="Arial"/>
            </a:endParaRPr>
          </a:p>
        </p:txBody>
      </p:sp>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28/0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4</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9417" y="-56007"/>
            <a:ext cx="6273165" cy="299720"/>
          </a:xfrm>
          <a:prstGeom prst="rect">
            <a:avLst/>
          </a:prstGeom>
        </p:spPr>
        <p:txBody>
          <a:bodyPr vert="horz" wrap="square" lIns="0" tIns="12700" rIns="0" bIns="0" rtlCol="0">
            <a:spAutoFit/>
          </a:bodyPr>
          <a:lstStyle/>
          <a:p>
            <a:pPr marL="12700" algn="ctr">
              <a:lnSpc>
                <a:spcPct val="100000"/>
              </a:lnSpc>
              <a:spcBef>
                <a:spcPts val="100"/>
              </a:spcBef>
            </a:pPr>
            <a:r>
              <a:rPr lang="fr-FR" sz="1800" dirty="0" smtClean="0">
                <a:solidFill>
                  <a:srgbClr val="FFFFFF"/>
                </a:solidFill>
                <a:latin typeface="Arial MT"/>
                <a:cs typeface="Arial MT"/>
              </a:rPr>
              <a:t> </a:t>
            </a:r>
            <a:r>
              <a:rPr lang="fr-FR" sz="1800" dirty="0" err="1" smtClean="0">
                <a:solidFill>
                  <a:srgbClr val="FFFFFF"/>
                </a:solidFill>
                <a:latin typeface="Arial MT"/>
                <a:cs typeface="Arial MT"/>
              </a:rPr>
              <a:t>Methodology</a:t>
            </a:r>
            <a:endParaRPr sz="1800" dirty="0">
              <a:latin typeface="Arial MT"/>
              <a:cs typeface="Arial MT"/>
            </a:endParaRPr>
          </a:p>
        </p:txBody>
      </p:sp>
      <p:sp>
        <p:nvSpPr>
          <p:cNvPr id="4" name="object 4"/>
          <p:cNvSpPr txBox="1"/>
          <p:nvPr/>
        </p:nvSpPr>
        <p:spPr>
          <a:xfrm>
            <a:off x="2075399" y="1071667"/>
            <a:ext cx="5001199" cy="3045064"/>
          </a:xfrm>
          <a:prstGeom prst="rect">
            <a:avLst/>
          </a:prstGeom>
        </p:spPr>
        <p:txBody>
          <a:bodyPr vert="horz" wrap="square" lIns="0" tIns="13335" rIns="0" bIns="0" rtlCol="0">
            <a:spAutoFit/>
          </a:bodyPr>
          <a:lstStyle/>
          <a:p>
            <a:pPr marL="298450" indent="-285750" algn="just">
              <a:lnSpc>
                <a:spcPct val="100000"/>
              </a:lnSpc>
              <a:spcBef>
                <a:spcPts val="105"/>
              </a:spcBef>
              <a:buFontTx/>
              <a:buChar char="-"/>
            </a:pPr>
            <a:r>
              <a:rPr lang="fr-FR" sz="1600" spc="-25" dirty="0" err="1" smtClean="0">
                <a:latin typeface="Arial"/>
                <a:cs typeface="Arial"/>
              </a:rPr>
              <a:t>Extract</a:t>
            </a:r>
            <a:r>
              <a:rPr lang="fr-FR" sz="1600" spc="-25" dirty="0" smtClean="0">
                <a:latin typeface="Arial"/>
                <a:cs typeface="Arial"/>
              </a:rPr>
              <a:t> </a:t>
            </a:r>
            <a:r>
              <a:rPr lang="fr-FR" sz="1600" spc="-25" dirty="0" err="1" smtClean="0">
                <a:latin typeface="Arial"/>
                <a:cs typeface="Arial"/>
              </a:rPr>
              <a:t>wind</a:t>
            </a:r>
            <a:r>
              <a:rPr lang="fr-FR" sz="1600" spc="-25" dirty="0" smtClean="0">
                <a:latin typeface="Arial"/>
                <a:cs typeface="Arial"/>
              </a:rPr>
              <a:t> data (speed, direction, </a:t>
            </a:r>
            <a:r>
              <a:rPr lang="fr-FR" sz="1600" spc="-25" dirty="0" err="1" smtClean="0">
                <a:latin typeface="Arial"/>
                <a:cs typeface="Arial"/>
              </a:rPr>
              <a:t>wind</a:t>
            </a:r>
            <a:r>
              <a:rPr lang="fr-FR" sz="1600" spc="-25" dirty="0" smtClean="0">
                <a:latin typeface="Arial"/>
                <a:cs typeface="Arial"/>
              </a:rPr>
              <a:t> stress) </a:t>
            </a:r>
            <a:r>
              <a:rPr lang="fr-FR" sz="1600" spc="-25" dirty="0" err="1" smtClean="0">
                <a:latin typeface="Arial"/>
                <a:cs typeface="Arial"/>
              </a:rPr>
              <a:t>from</a:t>
            </a:r>
            <a:r>
              <a:rPr lang="fr-FR" sz="1600" spc="-25" dirty="0" smtClean="0">
                <a:latin typeface="Arial"/>
                <a:cs typeface="Arial"/>
              </a:rPr>
              <a:t> the simulation outputs. </a:t>
            </a:r>
          </a:p>
          <a:p>
            <a:pPr marL="298450" indent="-285750" algn="just">
              <a:lnSpc>
                <a:spcPct val="100000"/>
              </a:lnSpc>
              <a:spcBef>
                <a:spcPts val="105"/>
              </a:spcBef>
              <a:buFontTx/>
              <a:buChar char="-"/>
            </a:pPr>
            <a:endParaRPr lang="fr-FR" sz="1600" spc="-25" dirty="0" smtClean="0">
              <a:latin typeface="Arial"/>
              <a:cs typeface="Arial"/>
            </a:endParaRPr>
          </a:p>
          <a:p>
            <a:pPr marL="298450" indent="-285750" algn="just">
              <a:lnSpc>
                <a:spcPct val="100000"/>
              </a:lnSpc>
              <a:spcBef>
                <a:spcPts val="105"/>
              </a:spcBef>
              <a:buFontTx/>
              <a:buChar char="-"/>
            </a:pPr>
            <a:r>
              <a:rPr lang="fr-FR" sz="1600" spc="-25" dirty="0" err="1" smtClean="0">
                <a:latin typeface="Arial"/>
                <a:cs typeface="Arial"/>
              </a:rPr>
              <a:t>Compute</a:t>
            </a:r>
            <a:r>
              <a:rPr lang="fr-FR" sz="1600" spc="-25" dirty="0" smtClean="0">
                <a:latin typeface="Arial"/>
                <a:cs typeface="Arial"/>
              </a:rPr>
              <a:t> upwelling indices </a:t>
            </a:r>
            <a:r>
              <a:rPr lang="fr-FR" sz="1600" spc="-25" dirty="0" err="1" smtClean="0">
                <a:latin typeface="Arial"/>
                <a:cs typeface="Arial"/>
              </a:rPr>
              <a:t>from</a:t>
            </a:r>
            <a:r>
              <a:rPr lang="fr-FR" sz="1600" spc="-25" dirty="0" smtClean="0">
                <a:latin typeface="Arial"/>
                <a:cs typeface="Arial"/>
              </a:rPr>
              <a:t> vertical </a:t>
            </a:r>
            <a:r>
              <a:rPr lang="fr-FR" sz="1600" spc="-25" dirty="0" err="1" smtClean="0">
                <a:latin typeface="Arial"/>
                <a:cs typeface="Arial"/>
              </a:rPr>
              <a:t>velocity</a:t>
            </a:r>
            <a:r>
              <a:rPr lang="fr-FR" sz="1600" spc="-25" dirty="0" smtClean="0">
                <a:latin typeface="Arial"/>
                <a:cs typeface="Arial"/>
              </a:rPr>
              <a:t> </a:t>
            </a:r>
            <a:r>
              <a:rPr lang="fr-FR" sz="1600" spc="-25" dirty="0" err="1" smtClean="0">
                <a:latin typeface="Arial"/>
                <a:cs typeface="Arial"/>
              </a:rPr>
              <a:t>fields</a:t>
            </a:r>
            <a:r>
              <a:rPr lang="fr-FR" sz="1600" spc="-25" dirty="0" smtClean="0">
                <a:latin typeface="Arial"/>
                <a:cs typeface="Arial"/>
              </a:rPr>
              <a:t> or </a:t>
            </a:r>
            <a:r>
              <a:rPr lang="fr-FR" sz="1600" spc="-25" dirty="0" err="1" smtClean="0">
                <a:latin typeface="Arial"/>
                <a:cs typeface="Arial"/>
              </a:rPr>
              <a:t>temperature</a:t>
            </a:r>
            <a:r>
              <a:rPr lang="fr-FR" sz="1600" spc="-25" dirty="0" smtClean="0">
                <a:latin typeface="Arial"/>
                <a:cs typeface="Arial"/>
              </a:rPr>
              <a:t> gradients. </a:t>
            </a:r>
          </a:p>
          <a:p>
            <a:pPr marL="298450" indent="-285750" algn="just">
              <a:lnSpc>
                <a:spcPct val="100000"/>
              </a:lnSpc>
              <a:spcBef>
                <a:spcPts val="105"/>
              </a:spcBef>
              <a:buFontTx/>
              <a:buChar char="-"/>
            </a:pPr>
            <a:endParaRPr lang="fr-FR" sz="1600" spc="-25" dirty="0" smtClean="0">
              <a:latin typeface="Arial"/>
              <a:cs typeface="Arial"/>
            </a:endParaRPr>
          </a:p>
          <a:p>
            <a:pPr marL="298450" indent="-285750" algn="just">
              <a:lnSpc>
                <a:spcPct val="100000"/>
              </a:lnSpc>
              <a:spcBef>
                <a:spcPts val="105"/>
              </a:spcBef>
              <a:buFontTx/>
              <a:buChar char="-"/>
            </a:pPr>
            <a:r>
              <a:rPr lang="fr-FR" sz="1600" spc="-25" dirty="0" err="1" smtClean="0">
                <a:latin typeface="Arial"/>
                <a:cs typeface="Arial"/>
              </a:rPr>
              <a:t>Apply</a:t>
            </a:r>
            <a:r>
              <a:rPr lang="fr-FR" sz="1600" spc="-25" dirty="0" smtClean="0">
                <a:latin typeface="Arial"/>
                <a:cs typeface="Arial"/>
              </a:rPr>
              <a:t> </a:t>
            </a:r>
            <a:r>
              <a:rPr lang="fr-FR" sz="1600" spc="-25" dirty="0" err="1" smtClean="0">
                <a:latin typeface="Arial"/>
                <a:cs typeface="Arial"/>
              </a:rPr>
              <a:t>statistical</a:t>
            </a:r>
            <a:r>
              <a:rPr lang="fr-FR" sz="1600" spc="-25" dirty="0" smtClean="0">
                <a:latin typeface="Arial"/>
                <a:cs typeface="Arial"/>
              </a:rPr>
              <a:t> </a:t>
            </a:r>
            <a:r>
              <a:rPr lang="fr-FR" sz="1600" spc="-25" dirty="0" err="1" smtClean="0">
                <a:latin typeface="Arial"/>
                <a:cs typeface="Arial"/>
              </a:rPr>
              <a:t>methods</a:t>
            </a:r>
            <a:r>
              <a:rPr lang="fr-FR" sz="1600" spc="-25" dirty="0" smtClean="0">
                <a:latin typeface="Arial"/>
                <a:cs typeface="Arial"/>
              </a:rPr>
              <a:t> (</a:t>
            </a:r>
            <a:r>
              <a:rPr lang="fr-FR" sz="1600" spc="-25" dirty="0" err="1" smtClean="0">
                <a:latin typeface="Arial"/>
                <a:cs typeface="Arial"/>
              </a:rPr>
              <a:t>e.g</a:t>
            </a:r>
            <a:r>
              <a:rPr lang="fr-FR" sz="1600" spc="-25" dirty="0" smtClean="0">
                <a:latin typeface="Arial"/>
                <a:cs typeface="Arial"/>
              </a:rPr>
              <a:t>., </a:t>
            </a:r>
            <a:r>
              <a:rPr lang="fr-FR" sz="1600" spc="-25" dirty="0" err="1" smtClean="0">
                <a:latin typeface="Arial"/>
                <a:cs typeface="Arial"/>
              </a:rPr>
              <a:t>correlation</a:t>
            </a:r>
            <a:r>
              <a:rPr lang="fr-FR" sz="1600" spc="-25" dirty="0" smtClean="0">
                <a:latin typeface="Arial"/>
                <a:cs typeface="Arial"/>
              </a:rPr>
              <a:t>, </a:t>
            </a:r>
            <a:r>
              <a:rPr lang="fr-FR" sz="1600" spc="-25" dirty="0" err="1" smtClean="0">
                <a:latin typeface="Arial"/>
                <a:cs typeface="Arial"/>
              </a:rPr>
              <a:t>regression</a:t>
            </a:r>
            <a:r>
              <a:rPr lang="fr-FR" sz="1600" spc="-25" dirty="0" smtClean="0">
                <a:latin typeface="Arial"/>
                <a:cs typeface="Arial"/>
              </a:rPr>
              <a:t>, time-</a:t>
            </a:r>
            <a:r>
              <a:rPr lang="fr-FR" sz="1600" spc="-25" dirty="0" err="1" smtClean="0">
                <a:latin typeface="Arial"/>
                <a:cs typeface="Arial"/>
              </a:rPr>
              <a:t>lag</a:t>
            </a:r>
            <a:r>
              <a:rPr lang="fr-FR" sz="1600" spc="-25" dirty="0" smtClean="0">
                <a:latin typeface="Arial"/>
                <a:cs typeface="Arial"/>
              </a:rPr>
              <a:t> </a:t>
            </a:r>
            <a:r>
              <a:rPr lang="fr-FR" sz="1600" spc="-25" dirty="0" err="1" smtClean="0">
                <a:latin typeface="Arial"/>
                <a:cs typeface="Arial"/>
              </a:rPr>
              <a:t>analysis</a:t>
            </a:r>
            <a:r>
              <a:rPr lang="fr-FR" sz="1600" spc="-25" dirty="0" smtClean="0">
                <a:latin typeface="Arial"/>
                <a:cs typeface="Arial"/>
              </a:rPr>
              <a:t>) to </a:t>
            </a:r>
            <a:r>
              <a:rPr lang="fr-FR" sz="1600" spc="-25" dirty="0" err="1" smtClean="0">
                <a:latin typeface="Arial"/>
                <a:cs typeface="Arial"/>
              </a:rPr>
              <a:t>quantify</a:t>
            </a:r>
            <a:r>
              <a:rPr lang="fr-FR" sz="1600" spc="-25" dirty="0" smtClean="0">
                <a:latin typeface="Arial"/>
                <a:cs typeface="Arial"/>
              </a:rPr>
              <a:t> </a:t>
            </a:r>
            <a:r>
              <a:rPr lang="fr-FR" sz="1600" spc="-25" dirty="0" err="1" smtClean="0">
                <a:latin typeface="Arial"/>
                <a:cs typeface="Arial"/>
              </a:rPr>
              <a:t>relationships</a:t>
            </a:r>
            <a:r>
              <a:rPr lang="fr-FR" sz="1600" spc="-25" dirty="0" smtClean="0">
                <a:latin typeface="Arial"/>
                <a:cs typeface="Arial"/>
              </a:rPr>
              <a:t>. </a:t>
            </a:r>
          </a:p>
          <a:p>
            <a:pPr marL="298450" indent="-285750" algn="just">
              <a:lnSpc>
                <a:spcPct val="100000"/>
              </a:lnSpc>
              <a:spcBef>
                <a:spcPts val="105"/>
              </a:spcBef>
              <a:buFontTx/>
              <a:buChar char="-"/>
            </a:pPr>
            <a:endParaRPr lang="fr-FR" sz="1600" spc="-25" dirty="0">
              <a:latin typeface="Arial"/>
              <a:cs typeface="Arial"/>
            </a:endParaRPr>
          </a:p>
          <a:p>
            <a:pPr marL="298450" indent="-285750" algn="just">
              <a:lnSpc>
                <a:spcPct val="100000"/>
              </a:lnSpc>
              <a:spcBef>
                <a:spcPts val="105"/>
              </a:spcBef>
              <a:buFontTx/>
              <a:buChar char="-"/>
            </a:pPr>
            <a:r>
              <a:rPr lang="fr-FR" sz="1600" spc="-25" dirty="0" err="1" smtClean="0">
                <a:latin typeface="Arial"/>
                <a:cs typeface="Arial"/>
              </a:rPr>
              <a:t>Visualize</a:t>
            </a:r>
            <a:r>
              <a:rPr lang="fr-FR" sz="1600" spc="-25" dirty="0" smtClean="0">
                <a:latin typeface="Arial"/>
                <a:cs typeface="Arial"/>
              </a:rPr>
              <a:t> </a:t>
            </a:r>
            <a:r>
              <a:rPr lang="fr-FR" sz="1600" spc="-25" dirty="0" err="1" smtClean="0">
                <a:latin typeface="Arial"/>
                <a:cs typeface="Arial"/>
              </a:rPr>
              <a:t>results</a:t>
            </a:r>
            <a:r>
              <a:rPr lang="fr-FR" sz="1600" spc="-25" dirty="0" smtClean="0">
                <a:latin typeface="Arial"/>
                <a:cs typeface="Arial"/>
              </a:rPr>
              <a:t> </a:t>
            </a:r>
            <a:r>
              <a:rPr lang="fr-FR" sz="1600" spc="-25" dirty="0" err="1" smtClean="0">
                <a:latin typeface="Arial"/>
                <a:cs typeface="Arial"/>
              </a:rPr>
              <a:t>using</a:t>
            </a:r>
            <a:r>
              <a:rPr lang="fr-FR" sz="1600" spc="-25" dirty="0" smtClean="0">
                <a:latin typeface="Arial"/>
                <a:cs typeface="Arial"/>
              </a:rPr>
              <a:t> **</a:t>
            </a:r>
            <a:r>
              <a:rPr lang="fr-FR" sz="1600" b="1" spc="-25" dirty="0" err="1" smtClean="0">
                <a:latin typeface="Arial"/>
                <a:cs typeface="Arial"/>
              </a:rPr>
              <a:t>xarray</a:t>
            </a:r>
            <a:r>
              <a:rPr lang="fr-FR" sz="1600" spc="-25" dirty="0" smtClean="0">
                <a:latin typeface="Arial"/>
                <a:cs typeface="Arial"/>
              </a:rPr>
              <a:t>**, **</a:t>
            </a:r>
            <a:r>
              <a:rPr lang="fr-FR" sz="1600" b="1" spc="-25" dirty="0" err="1" smtClean="0">
                <a:latin typeface="Arial"/>
                <a:cs typeface="Arial"/>
              </a:rPr>
              <a:t>xgcm</a:t>
            </a:r>
            <a:r>
              <a:rPr lang="fr-FR" sz="1600" spc="-25" dirty="0" smtClean="0">
                <a:latin typeface="Arial"/>
                <a:cs typeface="Arial"/>
              </a:rPr>
              <a:t>**, **</a:t>
            </a:r>
            <a:r>
              <a:rPr lang="fr-FR" sz="1600" b="1" spc="-25" dirty="0" err="1" smtClean="0">
                <a:latin typeface="Arial"/>
                <a:cs typeface="Arial"/>
              </a:rPr>
              <a:t>matplotlib</a:t>
            </a:r>
            <a:r>
              <a:rPr lang="fr-FR" sz="1600" spc="-25" dirty="0" smtClean="0">
                <a:latin typeface="Arial"/>
                <a:cs typeface="Arial"/>
              </a:rPr>
              <a:t>**, and **</a:t>
            </a:r>
            <a:r>
              <a:rPr lang="fr-FR" sz="1600" b="1" spc="-25" dirty="0" err="1" smtClean="0">
                <a:latin typeface="Arial"/>
                <a:cs typeface="Arial"/>
              </a:rPr>
              <a:t>cartopy</a:t>
            </a:r>
            <a:r>
              <a:rPr lang="fr-FR" sz="1600" spc="-25" dirty="0" smtClean="0">
                <a:latin typeface="Arial"/>
                <a:cs typeface="Arial"/>
              </a:rPr>
              <a:t>** for </a:t>
            </a:r>
            <a:r>
              <a:rPr lang="fr-FR" sz="1600" spc="-25" dirty="0" err="1" smtClean="0">
                <a:latin typeface="Arial"/>
                <a:cs typeface="Arial"/>
              </a:rPr>
              <a:t>spatio-temporal</a:t>
            </a:r>
            <a:r>
              <a:rPr lang="fr-FR" sz="1600" spc="-25" dirty="0" smtClean="0">
                <a:latin typeface="Arial"/>
                <a:cs typeface="Arial"/>
              </a:rPr>
              <a:t> </a:t>
            </a:r>
            <a:r>
              <a:rPr lang="fr-FR" sz="1600" spc="-25" dirty="0" err="1" smtClean="0">
                <a:latin typeface="Arial"/>
                <a:cs typeface="Arial"/>
              </a:rPr>
              <a:t>analysis</a:t>
            </a:r>
            <a:r>
              <a:rPr lang="fr-FR" sz="1600" spc="-25" dirty="0" smtClean="0">
                <a:latin typeface="Arial"/>
                <a:cs typeface="Arial"/>
              </a:rPr>
              <a:t>. </a:t>
            </a:r>
            <a:endParaRPr sz="1600" dirty="0">
              <a:latin typeface="Arial"/>
              <a:cs typeface="Arial"/>
            </a:endParaRPr>
          </a:p>
        </p:txBody>
      </p:sp>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28/0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5</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9417" y="10904"/>
            <a:ext cx="6273165" cy="579646"/>
          </a:xfrm>
          <a:prstGeom prst="rect">
            <a:avLst/>
          </a:prstGeom>
        </p:spPr>
        <p:txBody>
          <a:bodyPr vert="horz" wrap="square" lIns="0" tIns="12700" rIns="0" bIns="0" rtlCol="0">
            <a:spAutoFit/>
          </a:bodyPr>
          <a:lstStyle/>
          <a:p>
            <a:pPr marL="12700" algn="ctr">
              <a:spcBef>
                <a:spcPts val="100"/>
              </a:spcBef>
            </a:pPr>
            <a:r>
              <a:rPr lang="fr-FR" sz="1800" dirty="0" err="1" smtClean="0">
                <a:solidFill>
                  <a:srgbClr val="FFFFFF"/>
                </a:solidFill>
                <a:latin typeface="Arial MT"/>
                <a:cs typeface="Arial MT"/>
              </a:rPr>
              <a:t>Seasonal</a:t>
            </a:r>
            <a:r>
              <a:rPr lang="fr-FR" sz="1800" dirty="0" smtClean="0">
                <a:solidFill>
                  <a:srgbClr val="FFFFFF"/>
                </a:solidFill>
                <a:latin typeface="Arial MT"/>
                <a:cs typeface="Arial MT"/>
              </a:rPr>
              <a:t> Patterns of </a:t>
            </a:r>
            <a:r>
              <a:rPr lang="fr-FR" sz="1800" dirty="0" err="1" smtClean="0">
                <a:solidFill>
                  <a:srgbClr val="FFFFFF"/>
                </a:solidFill>
                <a:latin typeface="Arial MT"/>
                <a:cs typeface="Arial MT"/>
              </a:rPr>
              <a:t>wind</a:t>
            </a:r>
            <a:r>
              <a:rPr lang="fr-FR" sz="1800" dirty="0" smtClean="0">
                <a:solidFill>
                  <a:srgbClr val="FFFFFF"/>
                </a:solidFill>
                <a:latin typeface="Arial MT"/>
                <a:cs typeface="Arial MT"/>
              </a:rPr>
              <a:t> stress and SST</a:t>
            </a:r>
            <a:endParaRPr lang="en-US" dirty="0"/>
          </a:p>
          <a:p>
            <a:pPr marL="12700" algn="ctr">
              <a:lnSpc>
                <a:spcPct val="100000"/>
              </a:lnSpc>
              <a:spcBef>
                <a:spcPts val="100"/>
              </a:spcBef>
            </a:pPr>
            <a:endParaRPr sz="1800" dirty="0">
              <a:latin typeface="Arial MT"/>
              <a:cs typeface="Arial MT"/>
            </a:endParaRPr>
          </a:p>
        </p:txBody>
      </p:sp>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28/0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6</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pic>
        <p:nvPicPr>
          <p:cNvPr id="9" name="Imag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18" y="361950"/>
            <a:ext cx="4722937" cy="4529400"/>
          </a:xfrm>
          <a:prstGeom prst="rect">
            <a:avLst/>
          </a:prstGeom>
        </p:spPr>
      </p:pic>
      <p:pic>
        <p:nvPicPr>
          <p:cNvPr id="10"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40655" y="361949"/>
            <a:ext cx="4403345" cy="4529401"/>
          </a:xfrm>
          <a:prstGeom prst="rect">
            <a:avLst/>
          </a:prstGeom>
        </p:spPr>
      </p:pic>
    </p:spTree>
    <p:extLst>
      <p:ext uri="{BB962C8B-B14F-4D97-AF65-F5344CB8AC3E}">
        <p14:creationId xmlns:p14="http://schemas.microsoft.com/office/powerpoint/2010/main" val="39265929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9417" y="10904"/>
            <a:ext cx="6273165" cy="579646"/>
          </a:xfrm>
          <a:prstGeom prst="rect">
            <a:avLst/>
          </a:prstGeom>
        </p:spPr>
        <p:txBody>
          <a:bodyPr vert="horz" wrap="square" lIns="0" tIns="12700" rIns="0" bIns="0" rtlCol="0">
            <a:spAutoFit/>
          </a:bodyPr>
          <a:lstStyle/>
          <a:p>
            <a:pPr marL="12700" algn="ctr">
              <a:spcBef>
                <a:spcPts val="100"/>
              </a:spcBef>
            </a:pPr>
            <a:r>
              <a:rPr lang="fr-FR" sz="1800" dirty="0" err="1" smtClean="0">
                <a:solidFill>
                  <a:srgbClr val="FFFFFF"/>
                </a:solidFill>
                <a:latin typeface="Arial MT"/>
                <a:cs typeface="Arial MT"/>
              </a:rPr>
              <a:t>Seasonal</a:t>
            </a:r>
            <a:r>
              <a:rPr lang="fr-FR" sz="1800" dirty="0" smtClean="0">
                <a:solidFill>
                  <a:srgbClr val="FFFFFF"/>
                </a:solidFill>
                <a:latin typeface="Arial MT"/>
                <a:cs typeface="Arial MT"/>
              </a:rPr>
              <a:t> Patterns of </a:t>
            </a:r>
            <a:r>
              <a:rPr lang="fr-FR" sz="1800" dirty="0" err="1" smtClean="0">
                <a:solidFill>
                  <a:srgbClr val="FFFFFF"/>
                </a:solidFill>
                <a:latin typeface="Arial MT"/>
                <a:cs typeface="Arial MT"/>
              </a:rPr>
              <a:t>wind</a:t>
            </a:r>
            <a:r>
              <a:rPr lang="fr-FR" sz="1800" dirty="0" smtClean="0">
                <a:solidFill>
                  <a:srgbClr val="FFFFFF"/>
                </a:solidFill>
                <a:latin typeface="Arial MT"/>
                <a:cs typeface="Arial MT"/>
              </a:rPr>
              <a:t> stress and SST</a:t>
            </a:r>
            <a:endParaRPr lang="en-US" dirty="0"/>
          </a:p>
          <a:p>
            <a:pPr marL="12700" algn="ctr">
              <a:lnSpc>
                <a:spcPct val="100000"/>
              </a:lnSpc>
              <a:spcBef>
                <a:spcPts val="100"/>
              </a:spcBef>
            </a:pPr>
            <a:endParaRPr sz="1800" dirty="0">
              <a:latin typeface="Arial MT"/>
              <a:cs typeface="Arial MT"/>
            </a:endParaRPr>
          </a:p>
        </p:txBody>
      </p:sp>
      <p:sp>
        <p:nvSpPr>
          <p:cNvPr id="5" name="object 5"/>
          <p:cNvSpPr txBox="1">
            <a:spLocks noGrp="1"/>
          </p:cNvSpPr>
          <p:nvPr>
            <p:ph type="dt" sz="half" idx="6"/>
          </p:nvPr>
        </p:nvSpPr>
        <p:spPr>
          <a:xfrm>
            <a:off x="4740655" y="4944686"/>
            <a:ext cx="588645" cy="145553"/>
          </a:xfrm>
          <a:prstGeom prst="rect">
            <a:avLst/>
          </a:prstGeom>
        </p:spPr>
        <p:txBody>
          <a:bodyPr vert="horz" wrap="square" lIns="0" tIns="22225" rIns="0" bIns="0" rtlCol="0">
            <a:spAutoFit/>
          </a:bodyPr>
          <a:lstStyle/>
          <a:p>
            <a:pPr marL="12700">
              <a:lnSpc>
                <a:spcPct val="100000"/>
              </a:lnSpc>
              <a:spcBef>
                <a:spcPts val="175"/>
              </a:spcBef>
            </a:pPr>
            <a:r>
              <a:rPr spc="-10" dirty="0" smtClean="0"/>
              <a:t>28/0</a:t>
            </a:r>
            <a:r>
              <a:rPr lang="fr-FR" spc="-10" dirty="0" smtClean="0"/>
              <a:t>8</a:t>
            </a:r>
            <a:r>
              <a:rPr spc="-10" dirty="0" smtClean="0"/>
              <a:t>/2025</a:t>
            </a:r>
            <a:endParaRPr spc="-10" dirty="0"/>
          </a:p>
        </p:txBody>
      </p:sp>
      <p:sp>
        <p:nvSpPr>
          <p:cNvPr id="6" name="object 6"/>
          <p:cNvSpPr txBox="1">
            <a:spLocks noGrp="1"/>
          </p:cNvSpPr>
          <p:nvPr>
            <p:ph type="ftr" sz="quarter" idx="5"/>
          </p:nvPr>
        </p:nvSpPr>
        <p:spPr>
          <a:prstGeom prst="rect">
            <a:avLst/>
          </a:prstGeom>
        </p:spPr>
        <p:txBody>
          <a:bodyPr vert="horz" wrap="square" lIns="0" tIns="22225" rIns="0" bIns="0" rtlCol="0">
            <a:spAutoFit/>
          </a:bodyPr>
          <a:lstStyle/>
          <a:p>
            <a:pPr marL="23495">
              <a:lnSpc>
                <a:spcPct val="100000"/>
              </a:lnSpc>
              <a:spcBef>
                <a:spcPts val="175"/>
              </a:spcBef>
            </a:pP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7</a:t>
            </a:fld>
            <a:endParaRPr spc="-50" dirty="0"/>
          </a:p>
        </p:txBody>
      </p:sp>
      <p:sp>
        <p:nvSpPr>
          <p:cNvPr id="8" name="object 8"/>
          <p:cNvSpPr txBox="1"/>
          <p:nvPr/>
        </p:nvSpPr>
        <p:spPr>
          <a:xfrm>
            <a:off x="992530" y="4963688"/>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361949"/>
            <a:ext cx="5329299" cy="4523815"/>
          </a:xfrm>
          <a:prstGeom prst="rect">
            <a:avLst/>
          </a:prstGeom>
        </p:spPr>
      </p:pic>
      <p:sp>
        <p:nvSpPr>
          <p:cNvPr id="11" name="object 2"/>
          <p:cNvSpPr txBox="1"/>
          <p:nvPr/>
        </p:nvSpPr>
        <p:spPr>
          <a:xfrm>
            <a:off x="5638800" y="666750"/>
            <a:ext cx="3505200" cy="4611519"/>
          </a:xfrm>
          <a:prstGeom prst="rect">
            <a:avLst/>
          </a:prstGeom>
        </p:spPr>
        <p:txBody>
          <a:bodyPr vert="horz" wrap="square" lIns="0" tIns="12700" rIns="0" bIns="0" rtlCol="0">
            <a:spAutoFit/>
          </a:bodyPr>
          <a:lstStyle/>
          <a:p>
            <a:pPr marL="12700" algn="ctr">
              <a:spcBef>
                <a:spcPts val="100"/>
              </a:spcBef>
            </a:pPr>
            <a:r>
              <a:rPr lang="fr-FR" sz="1800" dirty="0" err="1" smtClean="0">
                <a:solidFill>
                  <a:srgbClr val="FFFFFF"/>
                </a:solidFill>
                <a:latin typeface="Arial MT"/>
                <a:cs typeface="Arial MT"/>
              </a:rPr>
              <a:t>Seasonal</a:t>
            </a:r>
            <a:r>
              <a:rPr lang="fr-FR" sz="1800" dirty="0" smtClean="0">
                <a:solidFill>
                  <a:srgbClr val="FFFFFF"/>
                </a:solidFill>
                <a:latin typeface="Arial MT"/>
                <a:cs typeface="Arial MT"/>
              </a:rPr>
              <a:t> Patterns of </a:t>
            </a:r>
            <a:r>
              <a:rPr lang="fr-FR" sz="1800" dirty="0" err="1" smtClean="0">
                <a:solidFill>
                  <a:srgbClr val="FFFFFF"/>
                </a:solidFill>
                <a:latin typeface="Arial MT"/>
                <a:cs typeface="Arial MT"/>
              </a:rPr>
              <a:t>wind</a:t>
            </a:r>
            <a:r>
              <a:rPr lang="fr-FR" sz="1800" dirty="0" smtClean="0">
                <a:solidFill>
                  <a:srgbClr val="FFFFFF"/>
                </a:solidFill>
                <a:latin typeface="Arial MT"/>
                <a:cs typeface="Arial MT"/>
              </a:rPr>
              <a:t> </a:t>
            </a:r>
            <a:r>
              <a:rPr lang="fr-FR" sz="1800" b="1" dirty="0" smtClean="0">
                <a:solidFill>
                  <a:schemeClr val="tx1"/>
                </a:solidFill>
                <a:latin typeface="Arial MT"/>
                <a:cs typeface="Arial MT"/>
              </a:rPr>
              <a:t>Conclusions</a:t>
            </a:r>
          </a:p>
          <a:p>
            <a:pPr marL="12700" algn="ctr">
              <a:spcBef>
                <a:spcPts val="100"/>
              </a:spcBef>
            </a:pPr>
            <a:r>
              <a:rPr lang="fr-FR" sz="1800" dirty="0" smtClean="0">
                <a:solidFill>
                  <a:srgbClr val="FFFFFF"/>
                </a:solidFill>
                <a:latin typeface="Arial MT"/>
                <a:cs typeface="Arial MT"/>
              </a:rPr>
              <a:t> </a:t>
            </a:r>
            <a:endParaRPr lang="fr-FR" dirty="0">
              <a:solidFill>
                <a:schemeClr val="tx1"/>
              </a:solidFill>
              <a:latin typeface="Arial MT"/>
              <a:cs typeface="Arial MT"/>
            </a:endParaRPr>
          </a:p>
          <a:p>
            <a:pPr marL="355600" indent="-342900" algn="ctr">
              <a:spcBef>
                <a:spcPts val="100"/>
              </a:spcBef>
              <a:buAutoNum type="arabicPeriod"/>
            </a:pPr>
            <a:r>
              <a:rPr lang="fr-FR" dirty="0" err="1" smtClean="0"/>
              <a:t>Continuity</a:t>
            </a:r>
            <a:r>
              <a:rPr lang="fr-FR" dirty="0" smtClean="0"/>
              <a:t> </a:t>
            </a:r>
            <a:r>
              <a:rPr lang="fr-FR" dirty="0" err="1" smtClean="0"/>
              <a:t>equation</a:t>
            </a:r>
            <a:endParaRPr lang="fr-FR" dirty="0" smtClean="0"/>
          </a:p>
          <a:p>
            <a:pPr marL="355600" indent="-342900" algn="ctr">
              <a:spcBef>
                <a:spcPts val="100"/>
              </a:spcBef>
              <a:buAutoNum type="arabicPeriod"/>
            </a:pPr>
            <a:endParaRPr lang="fr-FR" sz="1800" dirty="0" smtClean="0">
              <a:solidFill>
                <a:schemeClr val="tx1"/>
              </a:solidFill>
              <a:latin typeface="Arial MT"/>
              <a:cs typeface="Arial MT"/>
            </a:endParaRPr>
          </a:p>
          <a:p>
            <a:pPr marL="355600" indent="-342900" algn="ctr">
              <a:spcBef>
                <a:spcPts val="100"/>
              </a:spcBef>
              <a:buAutoNum type="arabicPeriod"/>
            </a:pPr>
            <a:endParaRPr lang="fr-FR" dirty="0">
              <a:solidFill>
                <a:schemeClr val="tx1"/>
              </a:solidFill>
              <a:latin typeface="Arial MT"/>
              <a:cs typeface="Arial MT"/>
            </a:endParaRPr>
          </a:p>
          <a:p>
            <a:pPr marL="12700" algn="ctr">
              <a:spcBef>
                <a:spcPts val="100"/>
              </a:spcBef>
            </a:pPr>
            <a:endParaRPr lang="fr-FR" sz="1800" dirty="0" smtClean="0">
              <a:solidFill>
                <a:schemeClr val="tx1"/>
              </a:solidFill>
              <a:latin typeface="Arial MT"/>
              <a:cs typeface="Arial MT"/>
            </a:endParaRPr>
          </a:p>
          <a:p>
            <a:pPr marL="12700" algn="ctr">
              <a:spcBef>
                <a:spcPts val="100"/>
              </a:spcBef>
            </a:pPr>
            <a:r>
              <a:rPr lang="fr-FR" dirty="0" smtClean="0">
                <a:solidFill>
                  <a:schemeClr val="tx1"/>
                </a:solidFill>
                <a:latin typeface="Arial MT"/>
                <a:cs typeface="Arial MT"/>
              </a:rPr>
              <a:t>2. </a:t>
            </a:r>
            <a:r>
              <a:rPr lang="fr-FR" dirty="0" err="1" smtClean="0">
                <a:solidFill>
                  <a:schemeClr val="tx1"/>
                </a:solidFill>
                <a:latin typeface="Arial MT"/>
                <a:cs typeface="Arial MT"/>
              </a:rPr>
              <a:t>Yes</a:t>
            </a:r>
            <a:endParaRPr lang="fr-FR" dirty="0" smtClean="0">
              <a:solidFill>
                <a:schemeClr val="tx1"/>
              </a:solidFill>
              <a:latin typeface="Arial MT"/>
              <a:cs typeface="Arial MT"/>
            </a:endParaRPr>
          </a:p>
          <a:p>
            <a:pPr marL="12700" algn="ctr">
              <a:spcBef>
                <a:spcPts val="100"/>
              </a:spcBef>
            </a:pPr>
            <a:endParaRPr lang="fr-FR" dirty="0" smtClean="0">
              <a:solidFill>
                <a:schemeClr val="tx1"/>
              </a:solidFill>
              <a:latin typeface="Arial MT"/>
              <a:cs typeface="Arial MT"/>
            </a:endParaRPr>
          </a:p>
          <a:p>
            <a:pPr marL="12700" algn="ctr">
              <a:spcBef>
                <a:spcPts val="100"/>
              </a:spcBef>
            </a:pPr>
            <a:r>
              <a:rPr lang="fr-FR" sz="1800" dirty="0" smtClean="0">
                <a:solidFill>
                  <a:schemeClr val="tx1"/>
                </a:solidFill>
                <a:latin typeface="Arial MT"/>
                <a:cs typeface="Arial MT"/>
              </a:rPr>
              <a:t>3. </a:t>
            </a:r>
            <a:r>
              <a:rPr lang="en-US" dirty="0" smtClean="0"/>
              <a:t>Immediate, or with a delay of three days or more</a:t>
            </a:r>
            <a:endParaRPr lang="fr-FR" sz="1800" dirty="0" smtClean="0">
              <a:solidFill>
                <a:schemeClr val="tx1"/>
              </a:solidFill>
              <a:latin typeface="Arial MT"/>
              <a:cs typeface="Arial MT"/>
            </a:endParaRPr>
          </a:p>
          <a:p>
            <a:pPr marL="12700" algn="ctr">
              <a:spcBef>
                <a:spcPts val="100"/>
              </a:spcBef>
            </a:pPr>
            <a:endParaRPr lang="fr-FR" dirty="0">
              <a:solidFill>
                <a:schemeClr val="tx1"/>
              </a:solidFill>
              <a:latin typeface="Arial MT"/>
              <a:cs typeface="Arial MT"/>
            </a:endParaRPr>
          </a:p>
          <a:p>
            <a:pPr marL="12700" algn="ctr">
              <a:spcBef>
                <a:spcPts val="100"/>
              </a:spcBef>
            </a:pPr>
            <a:r>
              <a:rPr lang="fr-FR" sz="1800" dirty="0" smtClean="0">
                <a:solidFill>
                  <a:schemeClr val="tx1"/>
                </a:solidFill>
                <a:latin typeface="Arial MT"/>
                <a:cs typeface="Arial MT"/>
              </a:rPr>
              <a:t>4. Le c</a:t>
            </a:r>
          </a:p>
          <a:p>
            <a:pPr marL="12700" algn="ctr">
              <a:spcBef>
                <a:spcPts val="100"/>
              </a:spcBef>
            </a:pPr>
            <a:endParaRPr lang="fr-FR" sz="1800" dirty="0" smtClean="0">
              <a:solidFill>
                <a:schemeClr val="tx1"/>
              </a:solidFill>
              <a:latin typeface="Arial MT"/>
              <a:cs typeface="Arial MT"/>
            </a:endParaRPr>
          </a:p>
          <a:p>
            <a:pPr marL="12700" algn="ctr">
              <a:spcBef>
                <a:spcPts val="100"/>
              </a:spcBef>
            </a:pPr>
            <a:r>
              <a:rPr lang="fr-FR" dirty="0" smtClean="0">
                <a:solidFill>
                  <a:srgbClr val="FFFFFF"/>
                </a:solidFill>
                <a:latin typeface="Arial MT"/>
                <a:cs typeface="Arial MT"/>
              </a:rPr>
              <a:t>. </a:t>
            </a:r>
            <a:r>
              <a:rPr lang="fr-FR" sz="1800" dirty="0" smtClean="0">
                <a:solidFill>
                  <a:srgbClr val="FFFFFF"/>
                </a:solidFill>
                <a:latin typeface="Arial MT"/>
                <a:cs typeface="Arial MT"/>
              </a:rPr>
              <a:t>SST</a:t>
            </a:r>
            <a:endParaRPr lang="en-US" dirty="0"/>
          </a:p>
          <a:p>
            <a:pPr marL="12700" algn="ctr">
              <a:lnSpc>
                <a:spcPct val="100000"/>
              </a:lnSpc>
              <a:spcBef>
                <a:spcPts val="100"/>
              </a:spcBef>
            </a:pPr>
            <a:endParaRPr sz="1800" dirty="0">
              <a:latin typeface="Arial MT"/>
              <a:cs typeface="Arial MT"/>
            </a:endParaRP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0" y="1809750"/>
            <a:ext cx="1733792" cy="533474"/>
          </a:xfrm>
          <a:prstGeom prst="rect">
            <a:avLst/>
          </a:prstGeom>
        </p:spPr>
      </p:pic>
    </p:spTree>
    <p:extLst>
      <p:ext uri="{BB962C8B-B14F-4D97-AF65-F5344CB8AC3E}">
        <p14:creationId xmlns:p14="http://schemas.microsoft.com/office/powerpoint/2010/main" val="31247986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96910" y="103123"/>
            <a:ext cx="379730"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FFFFFF"/>
                </a:solidFill>
                <a:latin typeface="Malgun Gothic"/>
                <a:cs typeface="Malgun Gothic"/>
              </a:rPr>
              <a:t>MERCI</a:t>
            </a:r>
            <a:endParaRPr sz="900">
              <a:latin typeface="Malgun Gothic"/>
              <a:cs typeface="Malgun Gothic"/>
            </a:endParaRPr>
          </a:p>
        </p:txBody>
      </p:sp>
      <p:sp>
        <p:nvSpPr>
          <p:cNvPr id="3" name="object 3"/>
          <p:cNvSpPr/>
          <p:nvPr/>
        </p:nvSpPr>
        <p:spPr>
          <a:xfrm>
            <a:off x="0" y="4924500"/>
            <a:ext cx="9144000" cy="219075"/>
          </a:xfrm>
          <a:custGeom>
            <a:avLst/>
            <a:gdLst/>
            <a:ahLst/>
            <a:cxnLst/>
            <a:rect l="l" t="t" r="r" b="b"/>
            <a:pathLst>
              <a:path w="9144000" h="219075">
                <a:moveTo>
                  <a:pt x="0" y="218998"/>
                </a:moveTo>
                <a:lnTo>
                  <a:pt x="9144000" y="218998"/>
                </a:lnTo>
                <a:lnTo>
                  <a:pt x="9144000" y="0"/>
                </a:lnTo>
                <a:lnTo>
                  <a:pt x="0" y="0"/>
                </a:lnTo>
                <a:lnTo>
                  <a:pt x="0" y="218998"/>
                </a:lnTo>
                <a:close/>
              </a:path>
            </a:pathLst>
          </a:custGeom>
          <a:solidFill>
            <a:srgbClr val="3C85C5"/>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THANK</a:t>
            </a:r>
            <a:r>
              <a:rPr spc="-65" dirty="0"/>
              <a:t> </a:t>
            </a:r>
            <a:r>
              <a:rPr dirty="0"/>
              <a:t>YOU</a:t>
            </a:r>
            <a:r>
              <a:rPr spc="-85" dirty="0"/>
              <a:t> </a:t>
            </a:r>
            <a:r>
              <a:rPr dirty="0"/>
              <a:t>FOR</a:t>
            </a:r>
            <a:r>
              <a:rPr spc="-80" dirty="0"/>
              <a:t> </a:t>
            </a:r>
            <a:r>
              <a:rPr dirty="0"/>
              <a:t>YOUR</a:t>
            </a:r>
            <a:r>
              <a:rPr spc="-60" dirty="0"/>
              <a:t> </a:t>
            </a:r>
            <a:r>
              <a:rPr dirty="0"/>
              <a:t>KIND</a:t>
            </a:r>
            <a:r>
              <a:rPr spc="-85" dirty="0"/>
              <a:t> </a:t>
            </a:r>
            <a:r>
              <a:rPr spc="-10" dirty="0"/>
              <a:t>ATTENTION</a:t>
            </a:r>
            <a:r>
              <a:rPr b="1" spc="-10" dirty="0">
                <a:latin typeface="Arial"/>
                <a:cs typeface="Arial"/>
              </a:rPr>
              <a:t>!!!!!!!</a:t>
            </a:r>
          </a:p>
        </p:txBody>
      </p:sp>
      <p:sp>
        <p:nvSpPr>
          <p:cNvPr id="9" name="object 9"/>
          <p:cNvSpPr txBox="1"/>
          <p:nvPr/>
        </p:nvSpPr>
        <p:spPr>
          <a:xfrm>
            <a:off x="8975725" y="4960490"/>
            <a:ext cx="78105" cy="156845"/>
          </a:xfrm>
          <a:prstGeom prst="rect">
            <a:avLst/>
          </a:prstGeom>
        </p:spPr>
        <p:txBody>
          <a:bodyPr vert="horz" wrap="square" lIns="0" tIns="0" rIns="0" bIns="0" rtlCol="0">
            <a:spAutoFit/>
          </a:bodyPr>
          <a:lstStyle/>
          <a:p>
            <a:pPr>
              <a:lnSpc>
                <a:spcPts val="1220"/>
              </a:lnSpc>
            </a:pPr>
            <a:r>
              <a:rPr sz="1100" b="1" spc="-670" dirty="0">
                <a:solidFill>
                  <a:srgbClr val="EEEEEE"/>
                </a:solidFill>
                <a:latin typeface="Arial"/>
                <a:cs typeface="Arial"/>
              </a:rPr>
              <a:t>77</a:t>
            </a:r>
            <a:r>
              <a:rPr sz="1100" b="1" spc="-55" dirty="0">
                <a:solidFill>
                  <a:srgbClr val="EEEEEE"/>
                </a:solidFill>
                <a:latin typeface="Arial"/>
                <a:cs typeface="Arial"/>
              </a:rPr>
              <a:t>7</a:t>
            </a:r>
            <a:endParaRPr sz="1100">
              <a:latin typeface="Arial"/>
              <a:cs typeface="Arial"/>
            </a:endParaRPr>
          </a:p>
        </p:txBody>
      </p:sp>
      <p:sp>
        <p:nvSpPr>
          <p:cNvPr id="10" name="object 10"/>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28/03/2025</a:t>
            </a:r>
          </a:p>
        </p:txBody>
      </p:sp>
      <p:sp>
        <p:nvSpPr>
          <p:cNvPr id="11" name="object 11"/>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spc="-10" dirty="0"/>
              <a:t>Project</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ct val="100000"/>
              </a:lnSpc>
            </a:pPr>
            <a:fld id="{81D60167-4931-47E6-BA6A-407CBD079E47}" type="slidenum">
              <a:rPr spc="-50" dirty="0"/>
              <a:t>8</a:t>
            </a:fld>
            <a:endParaRPr spc="-50" dirty="0"/>
          </a:p>
        </p:txBody>
      </p:sp>
      <p:sp>
        <p:nvSpPr>
          <p:cNvPr id="13" name="object 13"/>
          <p:cNvSpPr txBox="1"/>
          <p:nvPr/>
        </p:nvSpPr>
        <p:spPr>
          <a:xfrm>
            <a:off x="992530" y="4963383"/>
            <a:ext cx="370840" cy="139700"/>
          </a:xfrm>
          <a:prstGeom prst="rect">
            <a:avLst/>
          </a:prstGeom>
        </p:spPr>
        <p:txBody>
          <a:bodyPr vert="horz" wrap="square" lIns="0" tIns="3175" rIns="0" bIns="0" rtlCol="0">
            <a:spAutoFit/>
          </a:bodyPr>
          <a:lstStyle/>
          <a:p>
            <a:pPr marL="12700">
              <a:lnSpc>
                <a:spcPct val="100000"/>
              </a:lnSpc>
              <a:spcBef>
                <a:spcPts val="25"/>
              </a:spcBef>
            </a:pPr>
            <a:r>
              <a:rPr sz="800" b="1" spc="-10" dirty="0">
                <a:solidFill>
                  <a:srgbClr val="FFFFFF"/>
                </a:solidFill>
                <a:latin typeface="Arial"/>
                <a:cs typeface="Arial"/>
              </a:rPr>
              <a:t>Project</a:t>
            </a:r>
            <a:endParaRPr sz="800">
              <a:latin typeface="Arial"/>
              <a:cs typeface="Arial"/>
            </a:endParaRPr>
          </a:p>
        </p:txBody>
      </p:sp>
      <p:pic>
        <p:nvPicPr>
          <p:cNvPr id="14" name="Imag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276350"/>
            <a:ext cx="1809431" cy="1190118"/>
          </a:xfrm>
          <a:prstGeom prst="rect">
            <a:avLst/>
          </a:prstGeom>
        </p:spPr>
      </p:pic>
      <p:pic>
        <p:nvPicPr>
          <p:cNvPr id="16" name="Imag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0" y="1284194"/>
            <a:ext cx="1809431" cy="1190118"/>
          </a:xfrm>
          <a:prstGeom prst="rect">
            <a:avLst/>
          </a:prstGeom>
        </p:spPr>
      </p:pic>
      <p:pic>
        <p:nvPicPr>
          <p:cNvPr id="17" name="Imag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0384" y="1276350"/>
            <a:ext cx="1809431" cy="1190118"/>
          </a:xfrm>
          <a:prstGeom prst="rect">
            <a:avLst/>
          </a:prstGeom>
        </p:spPr>
      </p:pic>
    </p:spTree>
    <p:extLst>
      <p:ext uri="{BB962C8B-B14F-4D97-AF65-F5344CB8AC3E}">
        <p14:creationId xmlns:p14="http://schemas.microsoft.com/office/powerpoint/2010/main" val="7283111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TotalTime>
  <Words>371</Words>
  <Application>Microsoft Office PowerPoint</Application>
  <PresentationFormat>Affichage à l'écran (16:9)</PresentationFormat>
  <Paragraphs>85</Paragraphs>
  <Slides>8</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8</vt:i4>
      </vt:variant>
    </vt:vector>
  </HeadingPairs>
  <TitlesOfParts>
    <vt:vector size="14" baseType="lpstr">
      <vt:lpstr>Malgun Gothic</vt:lpstr>
      <vt:lpstr>Arial</vt:lpstr>
      <vt:lpstr>Arial MT</vt:lpstr>
      <vt:lpstr>Calibri</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THANK YOU FOR YOUR KIND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WELCOME **********************************</dc:title>
  <dc:creator>PC-M2OA</dc:creator>
  <cp:lastModifiedBy>PBhev</cp:lastModifiedBy>
  <cp:revision>10</cp:revision>
  <dcterms:created xsi:type="dcterms:W3CDTF">2025-04-17T05:30:01Z</dcterms:created>
  <dcterms:modified xsi:type="dcterms:W3CDTF">2025-08-28T06:09:18Z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2025-03-28T00:00:00Z</vt:filetime>
  </property>
  <property fmtid="{D5CDD505-2E9C-101B-9397-08002B2CF9AE}" pid="3" name="Creator">
    <vt:lpwstr>Microsoft® PowerPoint® 2016</vt:lpwstr>
  </property>
  <property fmtid="{D5CDD505-2E9C-101B-9397-08002B2CF9AE}" pid="4" name="LastSaved">
    <vt:filetime>2025-04-17T00:00:00Z</vt:filetime>
  </property>
  <property fmtid="{D5CDD505-2E9C-101B-9397-08002B2CF9AE}" pid="5" name="Producer">
    <vt:lpwstr>Microsoft® PowerPoint® 2016</vt:lpwstr>
  </property>
</Properties>
</file>